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73" r:id="rId7"/>
    <p:sldId id="261" r:id="rId8"/>
    <p:sldId id="263" r:id="rId9"/>
    <p:sldId id="262" r:id="rId10"/>
    <p:sldId id="264" r:id="rId11"/>
    <p:sldId id="272" r:id="rId12"/>
    <p:sldId id="265" r:id="rId13"/>
    <p:sldId id="266" r:id="rId14"/>
    <p:sldId id="267" r:id="rId15"/>
    <p:sldId id="271" r:id="rId16"/>
    <p:sldId id="268" r:id="rId17"/>
    <p:sldId id="269" r:id="rId18"/>
    <p:sldId id="270"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ED0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60"/>
  </p:normalViewPr>
  <p:slideViewPr>
    <p:cSldViewPr snapToGrid="0" showGuides="1">
      <p:cViewPr varScale="1">
        <p:scale>
          <a:sx n="76" d="100"/>
          <a:sy n="76" d="100"/>
        </p:scale>
        <p:origin x="1518" y="29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C8E4A-742A-FCEB-24DB-A22AB1E311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43E1068-85FE-FA57-A9C7-5CA578098E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526105-DEF9-2879-66F6-B08533579BE4}"/>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75E53B50-531D-D26E-031B-D26AEB0D99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4613D9-CD88-0A5B-2D6F-0DEE3815B0C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0075235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D6656-4650-0C2A-41C5-1803571854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3F4FC6-1A16-5794-A045-842C1DCAEE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59C93-4919-44B3-DD0A-B0243D92DC0C}"/>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BA3B60FD-8875-BEF2-B98E-CAA40759E9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5CDEDB-6E55-5E33-7A5F-ACC69ABDF105}"/>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127179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E4DB-9167-059A-A8EA-28D9AB5B4ED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063A92-7157-71D1-A8B7-9EDC75495AE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8A855E-87E1-E952-7A9D-86F42E47A497}"/>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73378C39-3282-94C1-B827-91DE2D5AF9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BFCB33-9F76-47E7-A79A-52A206F0194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006809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ACC55-B493-207B-296D-7D3AAECCA5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41BC71-FE79-9C02-84BD-38F050490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D6B6EC-1C33-5EFB-4664-9058E6D4EF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15A0F8-B40E-2453-150B-0DE22FEAF01A}"/>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6" name="Footer Placeholder 5">
            <a:extLst>
              <a:ext uri="{FF2B5EF4-FFF2-40B4-BE49-F238E27FC236}">
                <a16:creationId xmlns:a16="http://schemas.microsoft.com/office/drawing/2014/main" id="{E87B6C83-351D-49C2-C1F7-991479EF5D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96FB87-4A98-D9FF-B973-0B18C727ADE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7460956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D17D7-8F5D-1B38-F9E8-E29B167CA27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4CD8B7-1177-8B6E-A0B1-4132A850D5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F177D6-6061-C366-2AF2-847CCB506AA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4FE42D0-9DEE-1E4F-0929-3F4C88A5F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C3D390-3346-03C2-1257-AD481A35C8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86B78C-B752-1661-151F-3B916BF6FE9A}"/>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8" name="Footer Placeholder 7">
            <a:extLst>
              <a:ext uri="{FF2B5EF4-FFF2-40B4-BE49-F238E27FC236}">
                <a16:creationId xmlns:a16="http://schemas.microsoft.com/office/drawing/2014/main" id="{1A473981-833C-1724-66CA-3E80FB7DB7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76AED0-30BE-81E8-2CD1-4CA308CD32F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934426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04EFD-DD74-E5F8-13C6-72EACF652D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1D07EE-8EB6-879B-4463-5C7E36DAC411}"/>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4" name="Footer Placeholder 3">
            <a:extLst>
              <a:ext uri="{FF2B5EF4-FFF2-40B4-BE49-F238E27FC236}">
                <a16:creationId xmlns:a16="http://schemas.microsoft.com/office/drawing/2014/main" id="{8BDB417A-7EAF-F196-6479-FFBA34D5F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7B423-23BA-8149-1B67-FB48D08D5BC1}"/>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3660514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8479112-F479-2AD4-C17B-9FA978E1D8E1}"/>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3" name="Footer Placeholder 2">
            <a:extLst>
              <a:ext uri="{FF2B5EF4-FFF2-40B4-BE49-F238E27FC236}">
                <a16:creationId xmlns:a16="http://schemas.microsoft.com/office/drawing/2014/main" id="{8AF6B570-A6BD-2A51-F2EF-5DFA1F84217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5F9238-CD19-FFBF-7620-150C0BF2686A}"/>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8167615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D5047-A472-B451-95B2-146A352C54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086D11-5C33-B0D5-25E3-0CB3F1925A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080BBF-90AD-506B-DFA8-9CC961A4E0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326FCD-CC20-4725-E81B-4E41A98FD4E6}"/>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6" name="Footer Placeholder 5">
            <a:extLst>
              <a:ext uri="{FF2B5EF4-FFF2-40B4-BE49-F238E27FC236}">
                <a16:creationId xmlns:a16="http://schemas.microsoft.com/office/drawing/2014/main" id="{C95854C3-592D-8A59-8CF3-8B072FCDC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6E19B0-3A36-E9E8-54DA-658C27FE4D67}"/>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4758213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31647A-BEA9-0D97-89D2-BC18B8091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5CB5C2B-90E0-FE53-49A4-160D40A9C4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B960C8-2A8D-E394-238F-8015B993E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8A2AD3-A548-0BA8-13F2-586E43C6987A}"/>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6" name="Footer Placeholder 5">
            <a:extLst>
              <a:ext uri="{FF2B5EF4-FFF2-40B4-BE49-F238E27FC236}">
                <a16:creationId xmlns:a16="http://schemas.microsoft.com/office/drawing/2014/main" id="{954EB864-C721-17CB-750F-5C413EEA5D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2E9DE-6A3B-EDA3-4266-119A413B132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5805682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84CFB-402F-13A3-6905-15C053132D6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CBBBC76-102C-616A-6B13-7CC15DD6B1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52B14-DB56-A602-39E5-E38A02DD6203}"/>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6D836967-C716-9ED1-59C3-887101CF56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75A861-AB4F-9D2C-36C4-BBD2C873AED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69581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ED0A3E-382B-20A9-E6F3-67DDF139447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1218A8-4C42-0376-32BB-9F0DB97471A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A3CC8A-2584-C04F-6282-07403AA2C3B5}"/>
              </a:ext>
            </a:extLst>
          </p:cNvPr>
          <p:cNvSpPr>
            <a:spLocks noGrp="1"/>
          </p:cNvSpPr>
          <p:nvPr>
            <p:ph type="dt" sz="half" idx="10"/>
          </p:nvPr>
        </p:nvSpPr>
        <p:spPr/>
        <p:txBody>
          <a:body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0644A858-9B20-6B56-D3AF-EF8EDAD99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69217-71A0-6283-72AC-FD0C373BFDF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113255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702CF5-C6F6-35BD-F00A-871291E9285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301BBB-75CD-F320-109E-62DAF8616D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8CAC7-87F2-B3DB-6933-69BEA8292C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743378-6FBE-468B-B28B-85AEB7ADD678}" type="datetimeFigureOut">
              <a:rPr lang="en-US" smtClean="0"/>
              <a:t>9/17/2026</a:t>
            </a:fld>
            <a:endParaRPr lang="en-US"/>
          </a:p>
        </p:txBody>
      </p:sp>
      <p:sp>
        <p:nvSpPr>
          <p:cNvPr id="5" name="Footer Placeholder 4">
            <a:extLst>
              <a:ext uri="{FF2B5EF4-FFF2-40B4-BE49-F238E27FC236}">
                <a16:creationId xmlns:a16="http://schemas.microsoft.com/office/drawing/2014/main" id="{23FE99C7-9589-8131-5C0F-2C96B4AFA9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FA7D0BA-5733-E052-AD57-72719B13AE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11E358-B9EC-4A18-A59E-643270489B09}" type="slidenum">
              <a:rPr lang="en-US" smtClean="0"/>
              <a:t>‹#›</a:t>
            </a:fld>
            <a:endParaRPr lang="en-US"/>
          </a:p>
        </p:txBody>
      </p:sp>
    </p:spTree>
    <p:extLst>
      <p:ext uri="{BB962C8B-B14F-4D97-AF65-F5344CB8AC3E}">
        <p14:creationId xmlns:p14="http://schemas.microsoft.com/office/powerpoint/2010/main" val="19876083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4FEF8-2C39-68A6-760D-F36FF705E757}"/>
              </a:ext>
            </a:extLst>
          </p:cNvPr>
          <p:cNvSpPr>
            <a:spLocks noGrp="1"/>
          </p:cNvSpPr>
          <p:nvPr>
            <p:ph type="ctrTitle"/>
          </p:nvPr>
        </p:nvSpPr>
        <p:spPr/>
        <p:txBody>
          <a:bodyPr/>
          <a:lstStyle/>
          <a:p>
            <a:r>
              <a:rPr lang="en-US" dirty="0"/>
              <a:t>AI Orchestration</a:t>
            </a:r>
          </a:p>
        </p:txBody>
      </p:sp>
      <p:sp>
        <p:nvSpPr>
          <p:cNvPr id="3" name="Subtitle 2">
            <a:extLst>
              <a:ext uri="{FF2B5EF4-FFF2-40B4-BE49-F238E27FC236}">
                <a16:creationId xmlns:a16="http://schemas.microsoft.com/office/drawing/2014/main" id="{E8DEC77E-B5E0-7176-3C17-81508DDD9F51}"/>
              </a:ext>
            </a:extLst>
          </p:cNvPr>
          <p:cNvSpPr>
            <a:spLocks noGrp="1"/>
          </p:cNvSpPr>
          <p:nvPr>
            <p:ph type="subTitle" idx="1"/>
          </p:nvPr>
        </p:nvSpPr>
        <p:spPr/>
        <p:txBody>
          <a:bodyPr/>
          <a:lstStyle/>
          <a:p>
            <a:r>
              <a:rPr lang="en-US" dirty="0"/>
              <a:t>An Overview with Sample Planning Prompts to Get You Started</a:t>
            </a:r>
          </a:p>
        </p:txBody>
      </p:sp>
    </p:spTree>
    <p:extLst>
      <p:ext uri="{BB962C8B-B14F-4D97-AF65-F5344CB8AC3E}">
        <p14:creationId xmlns:p14="http://schemas.microsoft.com/office/powerpoint/2010/main" val="3264016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0397E-79F0-104B-53D6-E95D18BD74F8}"/>
              </a:ext>
            </a:extLst>
          </p:cNvPr>
          <p:cNvSpPr>
            <a:spLocks noGrp="1"/>
          </p:cNvSpPr>
          <p:nvPr>
            <p:ph type="title"/>
          </p:nvPr>
        </p:nvSpPr>
        <p:spPr>
          <a:xfrm>
            <a:off x="838200" y="365125"/>
            <a:ext cx="10515600" cy="706293"/>
          </a:xfrm>
        </p:spPr>
        <p:txBody>
          <a:bodyPr/>
          <a:lstStyle/>
          <a:p>
            <a:r>
              <a:rPr lang="en-US" i="1" dirty="0"/>
              <a:t>What is this?</a:t>
            </a:r>
          </a:p>
        </p:txBody>
      </p:sp>
      <p:sp>
        <p:nvSpPr>
          <p:cNvPr id="3" name="Content Placeholder 2">
            <a:extLst>
              <a:ext uri="{FF2B5EF4-FFF2-40B4-BE49-F238E27FC236}">
                <a16:creationId xmlns:a16="http://schemas.microsoft.com/office/drawing/2014/main" id="{50228E7D-4ACF-B90A-FD68-BFAB085B10F8}"/>
              </a:ext>
            </a:extLst>
          </p:cNvPr>
          <p:cNvSpPr>
            <a:spLocks noGrp="1"/>
          </p:cNvSpPr>
          <p:nvPr>
            <p:ph idx="1"/>
          </p:nvPr>
        </p:nvSpPr>
        <p:spPr>
          <a:xfrm>
            <a:off x="838200" y="1376218"/>
            <a:ext cx="10515600" cy="5006109"/>
          </a:xfrm>
        </p:spPr>
        <p:txBody>
          <a:bodyPr>
            <a:normAutofit fontScale="92500" lnSpcReduction="20000"/>
          </a:bodyPr>
          <a:lstStyle/>
          <a:p>
            <a:r>
              <a:rPr lang="en-US" sz="2400" dirty="0"/>
              <a:t>A Visual Studio Code Extension called Dabbler AI Orchestration</a:t>
            </a:r>
          </a:p>
          <a:p>
            <a:r>
              <a:rPr lang="en-US" sz="2400" dirty="0"/>
              <a:t>The main purpose of the extension is to improve AI-facilitated development in a few ways:</a:t>
            </a:r>
            <a:br>
              <a:rPr lang="en-US" sz="2400" dirty="0"/>
            </a:br>
            <a:endParaRPr lang="en-US" sz="2400" dirty="0"/>
          </a:p>
          <a:p>
            <a:pPr marL="914400" lvl="1" indent="-457200">
              <a:buFont typeface="+mj-lt"/>
              <a:buAutoNum type="arabicPeriod"/>
            </a:pPr>
            <a:r>
              <a:rPr lang="en-US" sz="1900" b="1" u="sng" dirty="0">
                <a:solidFill>
                  <a:srgbClr val="0070C0"/>
                </a:solidFill>
              </a:rPr>
              <a:t>Cross-Provider Verification</a:t>
            </a:r>
            <a:r>
              <a:rPr lang="en-US" sz="1900" b="1" dirty="0">
                <a:solidFill>
                  <a:srgbClr val="0070C0"/>
                </a:solidFill>
              </a:rPr>
              <a:t> </a:t>
            </a:r>
            <a:r>
              <a:rPr lang="en-US" sz="1900" dirty="0"/>
              <a:t>– </a:t>
            </a:r>
            <a:r>
              <a:rPr lang="en-US" sz="1900" i="1" dirty="0"/>
              <a:t>make  it easier to verify work (with potentially multiple feedback/fix rounds) by a second, independent AI Provider</a:t>
            </a:r>
            <a:r>
              <a:rPr lang="en-US" sz="1900" dirty="0"/>
              <a:t>.  AI makes mistakes, but a second AI provider (with a well-crafted prompt) often catches those mistakes, reducing the burden on human operators.</a:t>
            </a:r>
            <a:br>
              <a:rPr lang="en-US" sz="1900" dirty="0"/>
            </a:br>
            <a:endParaRPr lang="en-US" sz="1900" dirty="0"/>
          </a:p>
          <a:p>
            <a:pPr marL="914400" lvl="1" indent="-457200">
              <a:buFont typeface="+mj-lt"/>
              <a:buAutoNum type="arabicPeriod"/>
            </a:pPr>
            <a:r>
              <a:rPr lang="en-US" sz="1900" b="1" u="sng" dirty="0">
                <a:solidFill>
                  <a:srgbClr val="0070C0"/>
                </a:solidFill>
              </a:rPr>
              <a:t>Standardized Work Across Sessions</a:t>
            </a:r>
            <a:r>
              <a:rPr lang="en-US" sz="1900" dirty="0"/>
              <a:t> – </a:t>
            </a:r>
            <a:r>
              <a:rPr lang="en-US" sz="1900" i="1" dirty="0"/>
              <a:t>organize AI project work into sessions with uniform lifecycles</a:t>
            </a:r>
            <a:r>
              <a:rPr lang="en-US" sz="1900" dirty="0"/>
              <a:t>. </a:t>
            </a:r>
          </a:p>
          <a:p>
            <a:pPr marL="1371600" lvl="2" indent="-457200">
              <a:buFont typeface="+mj-lt"/>
              <a:buAutoNum type="alphaLcPeriod"/>
            </a:pPr>
            <a:r>
              <a:rPr lang="en-US" sz="1800" dirty="0"/>
              <a:t>Except for very simple projects, AI cannot do all of its work in a single session; so, it is helpful to have AI </a:t>
            </a:r>
            <a:r>
              <a:rPr lang="en-US" sz="1800" b="1" u="sng" dirty="0"/>
              <a:t>organize its project work into multiple sessions</a:t>
            </a:r>
            <a:r>
              <a:rPr lang="en-US" sz="1800" dirty="0"/>
              <a:t>, where additional sessions can be added at any time for bug fixes or enhancements</a:t>
            </a:r>
          </a:p>
          <a:p>
            <a:pPr marL="1371600" lvl="2" indent="-457200">
              <a:buFont typeface="+mj-lt"/>
              <a:buAutoNum type="alphaLcPeriod"/>
            </a:pPr>
            <a:r>
              <a:rPr lang="en-US" sz="1800" dirty="0"/>
              <a:t>The same exact AI model will do things in very different ways on different occasions.  By forcing AI to follow a uniform session lifecycle, the result will be more consistent and predictable.</a:t>
            </a:r>
            <a:br>
              <a:rPr lang="en-US" sz="1800" dirty="0"/>
            </a:br>
            <a:endParaRPr lang="en-US" sz="1800" dirty="0"/>
          </a:p>
          <a:p>
            <a:pPr marL="914400" lvl="1" indent="-457200">
              <a:buFont typeface="+mj-lt"/>
              <a:buAutoNum type="arabicPeriod"/>
            </a:pPr>
            <a:r>
              <a:rPr lang="en-US" sz="1900" b="1" u="sng" dirty="0">
                <a:solidFill>
                  <a:srgbClr val="0070C0"/>
                </a:solidFill>
              </a:rPr>
              <a:t>Cost Savings</a:t>
            </a:r>
            <a:r>
              <a:rPr lang="en-US" sz="1900" dirty="0"/>
              <a:t> – </a:t>
            </a:r>
            <a:r>
              <a:rPr lang="en-US" sz="1900" i="1" dirty="0"/>
              <a:t>prevent AI from doing things that non-AI code can do at no cost and faster</a:t>
            </a:r>
            <a:r>
              <a:rPr lang="en-US" sz="1900" dirty="0"/>
              <a:t>.  Implementing #1 and #2 improves quality but also cost.  The extension helps offset this extra cost by handling things like project lifecycle governance and tracking, launching tests, remediation loops, disputes between AI engines, and git operations.</a:t>
            </a:r>
          </a:p>
        </p:txBody>
      </p:sp>
    </p:spTree>
    <p:extLst>
      <p:ext uri="{BB962C8B-B14F-4D97-AF65-F5344CB8AC3E}">
        <p14:creationId xmlns:p14="http://schemas.microsoft.com/office/powerpoint/2010/main" val="2680651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2FAA-D04A-0E08-2DA9-8BF801968A5F}"/>
              </a:ext>
            </a:extLst>
          </p:cNvPr>
          <p:cNvSpPr>
            <a:spLocks noGrp="1"/>
          </p:cNvSpPr>
          <p:nvPr>
            <p:ph type="title"/>
          </p:nvPr>
        </p:nvSpPr>
        <p:spPr>
          <a:xfrm>
            <a:off x="838200" y="365126"/>
            <a:ext cx="10515600" cy="937202"/>
          </a:xfrm>
        </p:spPr>
        <p:txBody>
          <a:bodyPr/>
          <a:lstStyle/>
          <a:p>
            <a:r>
              <a:rPr lang="en-US" i="1" dirty="0"/>
              <a:t>What if I don’t want to use it?</a:t>
            </a:r>
          </a:p>
        </p:txBody>
      </p:sp>
      <p:sp>
        <p:nvSpPr>
          <p:cNvPr id="3" name="Content Placeholder 2">
            <a:extLst>
              <a:ext uri="{FF2B5EF4-FFF2-40B4-BE49-F238E27FC236}">
                <a16:creationId xmlns:a16="http://schemas.microsoft.com/office/drawing/2014/main" id="{D28E9844-6B52-5A86-1679-6F9E04695A7F}"/>
              </a:ext>
            </a:extLst>
          </p:cNvPr>
          <p:cNvSpPr>
            <a:spLocks noGrp="1"/>
          </p:cNvSpPr>
          <p:nvPr>
            <p:ph idx="1"/>
          </p:nvPr>
        </p:nvSpPr>
        <p:spPr>
          <a:xfrm>
            <a:off x="838200" y="1616364"/>
            <a:ext cx="10515600" cy="4560599"/>
          </a:xfrm>
        </p:spPr>
        <p:txBody>
          <a:bodyPr>
            <a:normAutofit fontScale="92500"/>
          </a:bodyPr>
          <a:lstStyle/>
          <a:p>
            <a:r>
              <a:rPr lang="en-US" sz="2400" dirty="0"/>
              <a:t>At any time, you can stop using the extension and just use AI directly.  </a:t>
            </a:r>
          </a:p>
          <a:p>
            <a:pPr lvl="1">
              <a:buFont typeface="Courier New" panose="02070309020205020404" pitchFamily="49" charset="0"/>
              <a:buChar char="o"/>
            </a:pPr>
            <a:r>
              <a:rPr lang="en-US" sz="2000" dirty="0"/>
              <a:t>The extension just creates markdown (.md) and JSON files to organize and govern its work.</a:t>
            </a:r>
          </a:p>
          <a:p>
            <a:pPr lvl="1">
              <a:buFont typeface="Courier New" panose="02070309020205020404" pitchFamily="49" charset="0"/>
              <a:buChar char="o"/>
            </a:pPr>
            <a:r>
              <a:rPr lang="en-US" sz="2000" dirty="0"/>
              <a:t>If you ever want to stop using the extension permanently, you can keep or delete those files.</a:t>
            </a:r>
            <a:br>
              <a:rPr lang="en-US" sz="1900" dirty="0"/>
            </a:br>
            <a:endParaRPr lang="en-US" sz="1900" dirty="0"/>
          </a:p>
          <a:p>
            <a:r>
              <a:rPr lang="en-US" sz="2400" dirty="0"/>
              <a:t>But if you just want the benefit of </a:t>
            </a:r>
            <a:r>
              <a:rPr lang="en-US" sz="2400" i="1" dirty="0"/>
              <a:t>sometimes</a:t>
            </a:r>
            <a:r>
              <a:rPr lang="en-US" sz="2400" dirty="0"/>
              <a:t> using AI directly, do it this way: </a:t>
            </a:r>
          </a:p>
          <a:p>
            <a:pPr lvl="1">
              <a:buFont typeface="Courier New" panose="02070309020205020404" pitchFamily="49" charset="0"/>
              <a:buChar char="o"/>
            </a:pPr>
            <a:r>
              <a:rPr lang="en-US" sz="2000" dirty="0"/>
              <a:t>Fire up a separate (</a:t>
            </a:r>
            <a:r>
              <a:rPr lang="en-US" sz="2000" i="1" dirty="0"/>
              <a:t>ad-hoc</a:t>
            </a:r>
            <a:r>
              <a:rPr lang="en-US" sz="2000" dirty="0"/>
              <a:t>) chat window instance of Copilot or Claude</a:t>
            </a:r>
          </a:p>
          <a:p>
            <a:pPr lvl="1">
              <a:buFont typeface="Courier New" panose="02070309020205020404" pitchFamily="49" charset="0"/>
              <a:buChar char="o"/>
            </a:pPr>
            <a:r>
              <a:rPr lang="en-US" sz="2000" dirty="0"/>
              <a:t>If you have an in-flight session, make sure that you tell AI not to make any changes in the repo until the in-flight session lands (the session closes and all changes have been pushed to the remote)</a:t>
            </a:r>
          </a:p>
          <a:p>
            <a:pPr lvl="1">
              <a:buFont typeface="Courier New" panose="02070309020205020404" pitchFamily="49" charset="0"/>
              <a:buChar char="o"/>
            </a:pPr>
            <a:r>
              <a:rPr lang="en-US" sz="2000" dirty="0"/>
              <a:t>Have the independent AI read AGENTS.md so that it doesn’t mess up the extension’s markdown files and JSON documents.</a:t>
            </a:r>
          </a:p>
          <a:p>
            <a:pPr lvl="1">
              <a:buFont typeface="Courier New" panose="02070309020205020404" pitchFamily="49" charset="0"/>
              <a:buChar char="o"/>
            </a:pPr>
            <a:r>
              <a:rPr lang="en-US" sz="2000" dirty="0"/>
              <a:t>NOTE: An ad-hoc chat window is often a good approach for the following:</a:t>
            </a:r>
          </a:p>
          <a:p>
            <a:pPr marL="1371600" lvl="2" indent="-457200">
              <a:buFont typeface="+mj-lt"/>
              <a:buAutoNum type="arabicPeriod"/>
            </a:pPr>
            <a:r>
              <a:rPr lang="en-US" sz="1800" dirty="0"/>
              <a:t>Doing additional planning work while AI is busy implementing things</a:t>
            </a:r>
          </a:p>
          <a:p>
            <a:pPr marL="1371600" lvl="2" indent="-457200">
              <a:buFont typeface="+mj-lt"/>
              <a:buAutoNum type="arabicPeriod"/>
            </a:pPr>
            <a:r>
              <a:rPr lang="en-US" sz="1800" dirty="0"/>
              <a:t>Doing a real-time evaluation if you are concerned that AI is doing something wrong</a:t>
            </a:r>
          </a:p>
        </p:txBody>
      </p:sp>
    </p:spTree>
    <p:extLst>
      <p:ext uri="{BB962C8B-B14F-4D97-AF65-F5344CB8AC3E}">
        <p14:creationId xmlns:p14="http://schemas.microsoft.com/office/powerpoint/2010/main" val="3557061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755FB-9D1D-C088-1677-31721ED0737B}"/>
              </a:ext>
            </a:extLst>
          </p:cNvPr>
          <p:cNvSpPr>
            <a:spLocks noGrp="1"/>
          </p:cNvSpPr>
          <p:nvPr>
            <p:ph type="title"/>
          </p:nvPr>
        </p:nvSpPr>
        <p:spPr>
          <a:xfrm>
            <a:off x="838200" y="365126"/>
            <a:ext cx="10515600" cy="835602"/>
          </a:xfrm>
        </p:spPr>
        <p:txBody>
          <a:bodyPr/>
          <a:lstStyle/>
          <a:p>
            <a:r>
              <a:rPr lang="en-US" i="1" dirty="0"/>
              <a:t>Getting Started – Installation and Accounts</a:t>
            </a:r>
          </a:p>
        </p:txBody>
      </p:sp>
      <p:sp>
        <p:nvSpPr>
          <p:cNvPr id="3" name="Content Placeholder 2">
            <a:extLst>
              <a:ext uri="{FF2B5EF4-FFF2-40B4-BE49-F238E27FC236}">
                <a16:creationId xmlns:a16="http://schemas.microsoft.com/office/drawing/2014/main" id="{FB4B0194-10DA-CD5F-314B-66A25A6D0069}"/>
              </a:ext>
            </a:extLst>
          </p:cNvPr>
          <p:cNvSpPr>
            <a:spLocks noGrp="1"/>
          </p:cNvSpPr>
          <p:nvPr>
            <p:ph idx="1"/>
          </p:nvPr>
        </p:nvSpPr>
        <p:spPr>
          <a:xfrm>
            <a:off x="838200" y="1487055"/>
            <a:ext cx="10515600" cy="4689908"/>
          </a:xfrm>
        </p:spPr>
        <p:txBody>
          <a:bodyPr>
            <a:normAutofit fontScale="92500" lnSpcReduction="20000"/>
          </a:bodyPr>
          <a:lstStyle/>
          <a:p>
            <a:r>
              <a:rPr lang="en-US" sz="2400" dirty="0"/>
              <a:t>You need to have the following installed:</a:t>
            </a:r>
          </a:p>
          <a:p>
            <a:pPr lvl="1"/>
            <a:r>
              <a:rPr lang="en-US" sz="2100" b="1" u="sng" dirty="0"/>
              <a:t>Visual Studio Code</a:t>
            </a:r>
            <a:r>
              <a:rPr lang="en-US" sz="2100" dirty="0"/>
              <a:t>, including </a:t>
            </a:r>
          </a:p>
          <a:p>
            <a:pPr lvl="2"/>
            <a:r>
              <a:rPr lang="en-US" sz="1900" dirty="0"/>
              <a:t>Git client (often installed with VS Code)</a:t>
            </a:r>
          </a:p>
          <a:p>
            <a:pPr lvl="2"/>
            <a:r>
              <a:rPr lang="en-US" sz="1900" dirty="0"/>
              <a:t>Dabbler AI Orchestration Extension</a:t>
            </a:r>
          </a:p>
          <a:p>
            <a:pPr lvl="1"/>
            <a:r>
              <a:rPr lang="en-US" sz="2100" b="1" u="sng" dirty="0"/>
              <a:t>AI Command-Line AI Tool(s) </a:t>
            </a:r>
            <a:r>
              <a:rPr lang="en-US" sz="2100" dirty="0"/>
              <a:t>– at least one of the following:</a:t>
            </a:r>
          </a:p>
          <a:p>
            <a:pPr lvl="2"/>
            <a:r>
              <a:rPr lang="en-US" sz="1900" dirty="0"/>
              <a:t>Copilot CLI </a:t>
            </a:r>
          </a:p>
          <a:p>
            <a:pPr lvl="2"/>
            <a:r>
              <a:rPr lang="en-US" sz="1900" dirty="0"/>
              <a:t>Claude CLI</a:t>
            </a:r>
            <a:br>
              <a:rPr lang="en-US" dirty="0"/>
            </a:br>
            <a:endParaRPr lang="en-US" dirty="0"/>
          </a:p>
          <a:p>
            <a:r>
              <a:rPr lang="en-US" sz="2400" dirty="0"/>
              <a:t>You need AI Accounts</a:t>
            </a:r>
          </a:p>
          <a:p>
            <a:pPr lvl="1"/>
            <a:r>
              <a:rPr lang="en-US" sz="2100" dirty="0"/>
              <a:t>If using Copilot, you need a GitHub Copilot account</a:t>
            </a:r>
          </a:p>
          <a:p>
            <a:pPr lvl="1"/>
            <a:r>
              <a:rPr lang="en-US" sz="2100" dirty="0"/>
              <a:t>If using Claude CLI, you need both</a:t>
            </a:r>
          </a:p>
          <a:p>
            <a:pPr lvl="2"/>
            <a:r>
              <a:rPr lang="en-US" sz="1900" dirty="0"/>
              <a:t>An Anthropic AI account</a:t>
            </a:r>
          </a:p>
          <a:p>
            <a:pPr lvl="2"/>
            <a:r>
              <a:rPr lang="en-US" sz="1900" dirty="0"/>
              <a:t>At least one AI API account with either OpenAI or Google (Gemini)</a:t>
            </a:r>
            <a:br>
              <a:rPr lang="en-US" sz="1900" dirty="0"/>
            </a:br>
            <a:endParaRPr lang="en-US" sz="1900" dirty="0"/>
          </a:p>
          <a:p>
            <a:r>
              <a:rPr lang="en-US" sz="2400" dirty="0"/>
              <a:t>If using AI APIs, you need to set the Dabbler environment variables</a:t>
            </a:r>
          </a:p>
          <a:p>
            <a:pPr lvl="1"/>
            <a:r>
              <a:rPr lang="en-US" sz="1900" dirty="0"/>
              <a:t>DABBLER_OPENAI_ API_KEY and DABBLER_GEMINI_API_KEY</a:t>
            </a:r>
          </a:p>
          <a:p>
            <a:pPr lvl="1"/>
            <a:endParaRPr lang="en-US" dirty="0"/>
          </a:p>
        </p:txBody>
      </p:sp>
    </p:spTree>
    <p:extLst>
      <p:ext uri="{BB962C8B-B14F-4D97-AF65-F5344CB8AC3E}">
        <p14:creationId xmlns:p14="http://schemas.microsoft.com/office/powerpoint/2010/main" val="2257402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AE8BA-C691-2A4C-8626-67D6BD673083}"/>
              </a:ext>
            </a:extLst>
          </p:cNvPr>
          <p:cNvSpPr>
            <a:spLocks noGrp="1"/>
          </p:cNvSpPr>
          <p:nvPr>
            <p:ph type="title"/>
          </p:nvPr>
        </p:nvSpPr>
        <p:spPr>
          <a:xfrm>
            <a:off x="838200" y="365125"/>
            <a:ext cx="10515600" cy="798657"/>
          </a:xfrm>
        </p:spPr>
        <p:txBody>
          <a:bodyPr/>
          <a:lstStyle/>
          <a:p>
            <a:r>
              <a:rPr lang="en-US" i="1" dirty="0"/>
              <a:t>Getting Started – Project* Set Up</a:t>
            </a:r>
          </a:p>
        </p:txBody>
      </p:sp>
      <p:sp>
        <p:nvSpPr>
          <p:cNvPr id="3" name="Content Placeholder 2">
            <a:extLst>
              <a:ext uri="{FF2B5EF4-FFF2-40B4-BE49-F238E27FC236}">
                <a16:creationId xmlns:a16="http://schemas.microsoft.com/office/drawing/2014/main" id="{8E2401FE-2066-F256-1FC5-26E8E4ABE46D}"/>
              </a:ext>
            </a:extLst>
          </p:cNvPr>
          <p:cNvSpPr>
            <a:spLocks noGrp="1"/>
          </p:cNvSpPr>
          <p:nvPr>
            <p:ph idx="1"/>
          </p:nvPr>
        </p:nvSpPr>
        <p:spPr>
          <a:xfrm>
            <a:off x="838200" y="1470990"/>
            <a:ext cx="5691909" cy="4876543"/>
          </a:xfrm>
        </p:spPr>
        <p:txBody>
          <a:bodyPr>
            <a:normAutofit lnSpcReduction="10000"/>
          </a:bodyPr>
          <a:lstStyle/>
          <a:p>
            <a:pPr marL="457200" indent="-457200">
              <a:buFont typeface="+mj-lt"/>
              <a:buAutoNum type="arabicPeriod"/>
            </a:pPr>
            <a:r>
              <a:rPr lang="en-US" sz="2200" dirty="0"/>
              <a:t>Create a remote repo in either GitHub or Azure DevOps.  Don’t add anything to the remote repo (not even the README file)</a:t>
            </a:r>
          </a:p>
          <a:p>
            <a:pPr marL="457200" indent="-457200">
              <a:buFont typeface="+mj-lt"/>
              <a:buAutoNum type="arabicPeriod"/>
            </a:pPr>
            <a:r>
              <a:rPr lang="en-US" sz="2200" dirty="0"/>
              <a:t>Fire up Visual Studio Code or open a new window (if VS Code is already open) – </a:t>
            </a:r>
            <a:r>
              <a:rPr lang="en-US" sz="2200" u="sng" dirty="0"/>
              <a:t>without selecting a folder</a:t>
            </a:r>
            <a:r>
              <a:rPr lang="en-US" sz="2200" dirty="0"/>
              <a:t>.</a:t>
            </a:r>
          </a:p>
          <a:p>
            <a:pPr marL="457200" indent="-457200">
              <a:buFont typeface="+mj-lt"/>
              <a:buAutoNum type="arabicPeriod"/>
            </a:pPr>
            <a:r>
              <a:rPr lang="en-US" sz="2200" dirty="0"/>
              <a:t>Click on the AI Orchestration’s </a:t>
            </a:r>
            <a:r>
              <a:rPr lang="en-US" sz="2200" u="sng" dirty="0"/>
              <a:t>Checkmark Icon</a:t>
            </a:r>
            <a:r>
              <a:rPr lang="en-US" sz="2200" dirty="0"/>
              <a:t>, </a:t>
            </a:r>
          </a:p>
          <a:p>
            <a:pPr marL="457200" indent="-457200">
              <a:buFont typeface="+mj-lt"/>
              <a:buAutoNum type="arabicPeriod"/>
            </a:pPr>
            <a:r>
              <a:rPr lang="en-US" sz="2200" dirty="0"/>
              <a:t>Click one of the blue “Set Up New Project” blue buttons (They both do the same thing)</a:t>
            </a:r>
          </a:p>
          <a:p>
            <a:pPr marL="457200" indent="-457200">
              <a:buFont typeface="+mj-lt"/>
              <a:buAutoNum type="arabicPeriod"/>
            </a:pPr>
            <a:r>
              <a:rPr lang="en-US" sz="2200" dirty="0"/>
              <a:t>You will be prompted for a folder location (it’s the </a:t>
            </a:r>
            <a:r>
              <a:rPr lang="en-US" sz="2200" u="sng" dirty="0"/>
              <a:t>parent</a:t>
            </a:r>
            <a:r>
              <a:rPr lang="en-US" sz="2200" dirty="0"/>
              <a:t> folder for the repo – so perhaps … source/repos), project name, and remote repo URL.</a:t>
            </a:r>
          </a:p>
        </p:txBody>
      </p:sp>
      <p:pic>
        <p:nvPicPr>
          <p:cNvPr id="5" name="Picture 4">
            <a:extLst>
              <a:ext uri="{FF2B5EF4-FFF2-40B4-BE49-F238E27FC236}">
                <a16:creationId xmlns:a16="http://schemas.microsoft.com/office/drawing/2014/main" id="{9F4C84F8-4CB1-87AA-ADDD-4798CBC3FBDE}"/>
              </a:ext>
            </a:extLst>
          </p:cNvPr>
          <p:cNvPicPr>
            <a:picLocks noChangeAspect="1"/>
          </p:cNvPicPr>
          <p:nvPr/>
        </p:nvPicPr>
        <p:blipFill>
          <a:blip r:embed="rId2"/>
          <a:stretch>
            <a:fillRect/>
          </a:stretch>
        </p:blipFill>
        <p:spPr>
          <a:xfrm>
            <a:off x="7156818" y="1208867"/>
            <a:ext cx="4196982" cy="5138666"/>
          </a:xfrm>
          <a:prstGeom prst="rect">
            <a:avLst/>
          </a:prstGeom>
        </p:spPr>
      </p:pic>
      <p:sp>
        <p:nvSpPr>
          <p:cNvPr id="6" name="TextBox 5">
            <a:extLst>
              <a:ext uri="{FF2B5EF4-FFF2-40B4-BE49-F238E27FC236}">
                <a16:creationId xmlns:a16="http://schemas.microsoft.com/office/drawing/2014/main" id="{73A71B08-5293-F952-BD2F-CA79B0D633A0}"/>
              </a:ext>
            </a:extLst>
          </p:cNvPr>
          <p:cNvSpPr txBox="1"/>
          <p:nvPr/>
        </p:nvSpPr>
        <p:spPr>
          <a:xfrm>
            <a:off x="636154" y="6347533"/>
            <a:ext cx="6520664" cy="369332"/>
          </a:xfrm>
          <a:prstGeom prst="rect">
            <a:avLst/>
          </a:prstGeom>
          <a:noFill/>
        </p:spPr>
        <p:txBody>
          <a:bodyPr wrap="square">
            <a:spAutoFit/>
          </a:bodyPr>
          <a:lstStyle/>
          <a:p>
            <a:r>
              <a:rPr lang="en-US" i="1" dirty="0"/>
              <a:t>*Here, "project" refers to the whole solution or repo</a:t>
            </a:r>
            <a:endParaRPr lang="en-US" sz="900" dirty="0"/>
          </a:p>
        </p:txBody>
      </p:sp>
    </p:spTree>
    <p:extLst>
      <p:ext uri="{BB962C8B-B14F-4D97-AF65-F5344CB8AC3E}">
        <p14:creationId xmlns:p14="http://schemas.microsoft.com/office/powerpoint/2010/main" val="4059617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80558-632D-6B70-B6EC-63CE40EA24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4EF990-5253-930C-A7DF-464205EABCFF}"/>
              </a:ext>
            </a:extLst>
          </p:cNvPr>
          <p:cNvSpPr>
            <a:spLocks noGrp="1"/>
          </p:cNvSpPr>
          <p:nvPr>
            <p:ph type="title"/>
          </p:nvPr>
        </p:nvSpPr>
        <p:spPr>
          <a:xfrm>
            <a:off x="838200" y="365125"/>
            <a:ext cx="10515600" cy="798657"/>
          </a:xfrm>
        </p:spPr>
        <p:txBody>
          <a:bodyPr>
            <a:noAutofit/>
          </a:bodyPr>
          <a:lstStyle/>
          <a:p>
            <a:r>
              <a:rPr lang="en-US" sz="3600" i="1" dirty="0"/>
              <a:t>Getting Started – Default AI Configurations for Repo</a:t>
            </a:r>
          </a:p>
        </p:txBody>
      </p:sp>
      <p:sp>
        <p:nvSpPr>
          <p:cNvPr id="3" name="Content Placeholder 2">
            <a:extLst>
              <a:ext uri="{FF2B5EF4-FFF2-40B4-BE49-F238E27FC236}">
                <a16:creationId xmlns:a16="http://schemas.microsoft.com/office/drawing/2014/main" id="{F17C7BB2-EE08-8F35-260C-21F3F2B398B0}"/>
              </a:ext>
            </a:extLst>
          </p:cNvPr>
          <p:cNvSpPr>
            <a:spLocks noGrp="1"/>
          </p:cNvSpPr>
          <p:nvPr>
            <p:ph idx="1"/>
          </p:nvPr>
        </p:nvSpPr>
        <p:spPr>
          <a:xfrm>
            <a:off x="498550" y="1346200"/>
            <a:ext cx="5330749" cy="5001333"/>
          </a:xfrm>
        </p:spPr>
        <p:txBody>
          <a:bodyPr>
            <a:normAutofit lnSpcReduction="10000"/>
          </a:bodyPr>
          <a:lstStyle/>
          <a:p>
            <a:pPr marL="457200" indent="-457200">
              <a:buFont typeface="+mj-lt"/>
              <a:buAutoNum type="arabicPeriod"/>
            </a:pPr>
            <a:r>
              <a:rPr lang="en-US" sz="1800" dirty="0"/>
              <a:t>The Configuration section in the Solution Explorer allows you to set default AI settings for your repo/solution.</a:t>
            </a:r>
          </a:p>
          <a:p>
            <a:pPr marL="457200" indent="-457200">
              <a:buFont typeface="+mj-lt"/>
              <a:buAutoNum type="arabicPeriod"/>
            </a:pPr>
            <a:r>
              <a:rPr lang="en-US" sz="1800" dirty="0"/>
              <a:t>The </a:t>
            </a:r>
            <a:r>
              <a:rPr lang="en-US" sz="1800" b="1" dirty="0">
                <a:solidFill>
                  <a:srgbClr val="0070C0"/>
                </a:solidFill>
              </a:rPr>
              <a:t>Authoring AI </a:t>
            </a:r>
            <a:r>
              <a:rPr lang="en-US" sz="1800" dirty="0"/>
              <a:t>is the AI that writes your code</a:t>
            </a:r>
          </a:p>
          <a:p>
            <a:pPr marL="457200" indent="-457200">
              <a:buFont typeface="+mj-lt"/>
              <a:buAutoNum type="arabicPeriod"/>
            </a:pPr>
            <a:r>
              <a:rPr lang="en-US" sz="1800" dirty="0"/>
              <a:t>The </a:t>
            </a:r>
            <a:r>
              <a:rPr lang="en-US" sz="1800" b="1" dirty="0">
                <a:solidFill>
                  <a:srgbClr val="0070C0"/>
                </a:solidFill>
              </a:rPr>
              <a:t>Reviewing AI</a:t>
            </a:r>
            <a:r>
              <a:rPr lang="en-US" sz="1800" dirty="0"/>
              <a:t> is the AI that reviews, evaluates, and ultimately verifies your code.</a:t>
            </a:r>
          </a:p>
          <a:p>
            <a:pPr lvl="1"/>
            <a:r>
              <a:rPr lang="en-US" sz="1600" dirty="0"/>
              <a:t>Primary Model does most of the Work</a:t>
            </a:r>
          </a:p>
          <a:p>
            <a:pPr lvl="1"/>
            <a:r>
              <a:rPr lang="en-US" sz="1600" dirty="0"/>
              <a:t>Auxiliary Model has final word when Authoring AI disagrees with Primary Reviewing Model</a:t>
            </a:r>
          </a:p>
          <a:p>
            <a:pPr marL="457200" indent="-457200">
              <a:buFont typeface="+mj-lt"/>
              <a:buAutoNum type="arabicPeriod"/>
            </a:pPr>
            <a:r>
              <a:rPr lang="en-US" sz="1800" dirty="0"/>
              <a:t>The </a:t>
            </a:r>
            <a:r>
              <a:rPr lang="en-US" sz="1800" b="1" dirty="0">
                <a:solidFill>
                  <a:srgbClr val="0070C0"/>
                </a:solidFill>
              </a:rPr>
              <a:t>Vehicle </a:t>
            </a:r>
            <a:r>
              <a:rPr lang="en-US" sz="1800" dirty="0"/>
              <a:t>is the CLI or API that communicates with the AI model</a:t>
            </a:r>
          </a:p>
          <a:p>
            <a:pPr marL="457200" indent="-457200">
              <a:buFont typeface="+mj-lt"/>
              <a:buAutoNum type="arabicPeriod"/>
            </a:pPr>
            <a:r>
              <a:rPr lang="en-US" sz="1800" dirty="0"/>
              <a:t>The </a:t>
            </a:r>
            <a:r>
              <a:rPr lang="en-US" sz="1800" b="1" dirty="0">
                <a:solidFill>
                  <a:srgbClr val="0070C0"/>
                </a:solidFill>
              </a:rPr>
              <a:t>Model </a:t>
            </a:r>
            <a:r>
              <a:rPr lang="en-US" sz="1800" dirty="0"/>
              <a:t>is the specific AI model used (e.g., claude-opus-5, gpt-5.6-terra … etc.)</a:t>
            </a:r>
          </a:p>
          <a:p>
            <a:pPr marL="457200" indent="-457200">
              <a:buFont typeface="+mj-lt"/>
              <a:buAutoNum type="arabicPeriod"/>
            </a:pPr>
            <a:r>
              <a:rPr lang="en-US" sz="1800" dirty="0"/>
              <a:t>The </a:t>
            </a:r>
            <a:r>
              <a:rPr lang="en-US" sz="1800" b="1" dirty="0">
                <a:solidFill>
                  <a:srgbClr val="0070C0"/>
                </a:solidFill>
              </a:rPr>
              <a:t>API Keys </a:t>
            </a:r>
            <a:r>
              <a:rPr lang="en-US" sz="1800" dirty="0"/>
              <a:t>are authentication keys used to call AI APIs.</a:t>
            </a:r>
          </a:p>
          <a:p>
            <a:pPr lvl="1"/>
            <a:r>
              <a:rPr lang="en-US" sz="1600" dirty="0"/>
              <a:t>Require dedicated API accounts</a:t>
            </a:r>
          </a:p>
          <a:p>
            <a:pPr lvl="1"/>
            <a:r>
              <a:rPr lang="en-US" sz="1600" dirty="0"/>
              <a:t>Currently they are used only for Reviewing AI</a:t>
            </a:r>
          </a:p>
        </p:txBody>
      </p:sp>
      <p:pic>
        <p:nvPicPr>
          <p:cNvPr id="6" name="Picture 5">
            <a:extLst>
              <a:ext uri="{FF2B5EF4-FFF2-40B4-BE49-F238E27FC236}">
                <a16:creationId xmlns:a16="http://schemas.microsoft.com/office/drawing/2014/main" id="{97DB52AA-6DF3-33DF-4A18-5089AC760226}"/>
              </a:ext>
            </a:extLst>
          </p:cNvPr>
          <p:cNvPicPr>
            <a:picLocks noChangeAspect="1"/>
          </p:cNvPicPr>
          <p:nvPr/>
        </p:nvPicPr>
        <p:blipFill>
          <a:blip r:embed="rId2"/>
          <a:stretch>
            <a:fillRect/>
          </a:stretch>
        </p:blipFill>
        <p:spPr>
          <a:xfrm>
            <a:off x="6034809" y="1163782"/>
            <a:ext cx="5658640" cy="5277587"/>
          </a:xfrm>
          <a:prstGeom prst="rect">
            <a:avLst/>
          </a:prstGeom>
        </p:spPr>
      </p:pic>
    </p:spTree>
    <p:extLst>
      <p:ext uri="{BB962C8B-B14F-4D97-AF65-F5344CB8AC3E}">
        <p14:creationId xmlns:p14="http://schemas.microsoft.com/office/powerpoint/2010/main" val="2914323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F710F11-C596-C8AB-4B23-613793FCA453}"/>
              </a:ext>
            </a:extLst>
          </p:cNvPr>
          <p:cNvSpPr/>
          <p:nvPr/>
        </p:nvSpPr>
        <p:spPr>
          <a:xfrm>
            <a:off x="0" y="0"/>
            <a:ext cx="123825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3EE190EF-B16B-B2F3-7F4A-69111F25D62B}"/>
              </a:ext>
            </a:extLst>
          </p:cNvPr>
          <p:cNvPicPr>
            <a:picLocks noChangeAspect="1"/>
          </p:cNvPicPr>
          <p:nvPr/>
        </p:nvPicPr>
        <p:blipFill>
          <a:blip r:embed="rId2"/>
          <a:stretch>
            <a:fillRect/>
          </a:stretch>
        </p:blipFill>
        <p:spPr>
          <a:xfrm>
            <a:off x="139700" y="207654"/>
            <a:ext cx="11912600" cy="6442691"/>
          </a:xfrm>
          <a:prstGeom prst="rect">
            <a:avLst/>
          </a:prstGeom>
        </p:spPr>
      </p:pic>
      <p:sp>
        <p:nvSpPr>
          <p:cNvPr id="2" name="Title 1">
            <a:extLst>
              <a:ext uri="{FF2B5EF4-FFF2-40B4-BE49-F238E27FC236}">
                <a16:creationId xmlns:a16="http://schemas.microsoft.com/office/drawing/2014/main" id="{0C340B89-B409-D58A-9CCC-D6211F4297FA}"/>
              </a:ext>
            </a:extLst>
          </p:cNvPr>
          <p:cNvSpPr>
            <a:spLocks noGrp="1"/>
          </p:cNvSpPr>
          <p:nvPr>
            <p:ph type="title"/>
          </p:nvPr>
        </p:nvSpPr>
        <p:spPr>
          <a:xfrm>
            <a:off x="983307" y="-28493"/>
            <a:ext cx="10515600" cy="662462"/>
          </a:xfrm>
        </p:spPr>
        <p:txBody>
          <a:bodyPr>
            <a:normAutofit/>
          </a:bodyPr>
          <a:lstStyle/>
          <a:p>
            <a:pPr algn="ctr"/>
            <a:r>
              <a:rPr lang="en-US" sz="3200" i="1" dirty="0">
                <a:solidFill>
                  <a:srgbClr val="FFFF00"/>
                </a:solidFill>
              </a:rPr>
              <a:t>Getting Started – Orchestration Layout</a:t>
            </a:r>
          </a:p>
        </p:txBody>
      </p:sp>
      <p:sp>
        <p:nvSpPr>
          <p:cNvPr id="13" name="Rectangle 12">
            <a:extLst>
              <a:ext uri="{FF2B5EF4-FFF2-40B4-BE49-F238E27FC236}">
                <a16:creationId xmlns:a16="http://schemas.microsoft.com/office/drawing/2014/main" id="{3A629B32-F1EF-605E-BC00-83AA563A9B1A}"/>
              </a:ext>
            </a:extLst>
          </p:cNvPr>
          <p:cNvSpPr/>
          <p:nvPr/>
        </p:nvSpPr>
        <p:spPr>
          <a:xfrm>
            <a:off x="636275" y="3707024"/>
            <a:ext cx="2964669" cy="294332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37227E5-FC5C-288A-BA82-47719ABDADD3}"/>
              </a:ext>
            </a:extLst>
          </p:cNvPr>
          <p:cNvSpPr/>
          <p:nvPr/>
        </p:nvSpPr>
        <p:spPr>
          <a:xfrm>
            <a:off x="636276" y="841622"/>
            <a:ext cx="2964668" cy="2752477"/>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81D2EC4-3B7F-8AF3-7362-F591C732F1B8}"/>
              </a:ext>
            </a:extLst>
          </p:cNvPr>
          <p:cNvSpPr/>
          <p:nvPr/>
        </p:nvSpPr>
        <p:spPr>
          <a:xfrm>
            <a:off x="3740643" y="530467"/>
            <a:ext cx="3926709"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CBC75FA1-A61E-11FB-0476-0FE684DEAB1F}"/>
              </a:ext>
            </a:extLst>
          </p:cNvPr>
          <p:cNvSpPr/>
          <p:nvPr/>
        </p:nvSpPr>
        <p:spPr>
          <a:xfrm>
            <a:off x="7760378" y="530467"/>
            <a:ext cx="4291922"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3" name="Table 22">
            <a:extLst>
              <a:ext uri="{FF2B5EF4-FFF2-40B4-BE49-F238E27FC236}">
                <a16:creationId xmlns:a16="http://schemas.microsoft.com/office/drawing/2014/main" id="{BC299207-EC83-81F5-98B8-4406B9D2CB92}"/>
              </a:ext>
            </a:extLst>
          </p:cNvPr>
          <p:cNvGraphicFramePr>
            <a:graphicFrameLocks noGrp="1"/>
          </p:cNvGraphicFramePr>
          <p:nvPr>
            <p:extLst>
              <p:ext uri="{D42A27DB-BD31-4B8C-83A1-F6EECF244321}">
                <p14:modId xmlns:p14="http://schemas.microsoft.com/office/powerpoint/2010/main" val="1077996544"/>
              </p:ext>
            </p:extLst>
          </p:nvPr>
        </p:nvGraphicFramePr>
        <p:xfrm>
          <a:off x="8393284"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Extension Output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the extension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(Not interactive)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4" name="Table 23">
            <a:extLst>
              <a:ext uri="{FF2B5EF4-FFF2-40B4-BE49-F238E27FC236}">
                <a16:creationId xmlns:a16="http://schemas.microsoft.com/office/drawing/2014/main" id="{1F0EAC2B-E324-240F-87DF-43999F76A224}"/>
              </a:ext>
            </a:extLst>
          </p:cNvPr>
          <p:cNvGraphicFramePr>
            <a:graphicFrameLocks noGrp="1"/>
          </p:cNvGraphicFramePr>
          <p:nvPr>
            <p:extLst>
              <p:ext uri="{D42A27DB-BD31-4B8C-83A1-F6EECF244321}">
                <p14:modId xmlns:p14="http://schemas.microsoft.com/office/powerpoint/2010/main" val="500575850"/>
              </p:ext>
            </p:extLst>
          </p:nvPr>
        </p:nvGraphicFramePr>
        <p:xfrm>
          <a:off x="4097519"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AI CLI Terminal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AI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 human user can interact with AI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5" name="Table 24">
            <a:extLst>
              <a:ext uri="{FF2B5EF4-FFF2-40B4-BE49-F238E27FC236}">
                <a16:creationId xmlns:a16="http://schemas.microsoft.com/office/drawing/2014/main" id="{89D059EA-8F57-1B6E-0B4D-FDE9D5052B6A}"/>
              </a:ext>
            </a:extLst>
          </p:cNvPr>
          <p:cNvGraphicFramePr>
            <a:graphicFrameLocks noGrp="1"/>
          </p:cNvGraphicFramePr>
          <p:nvPr>
            <p:extLst>
              <p:ext uri="{D42A27DB-BD31-4B8C-83A1-F6EECF244321}">
                <p14:modId xmlns:p14="http://schemas.microsoft.com/office/powerpoint/2010/main" val="59113919"/>
              </p:ext>
            </p:extLst>
          </p:nvPr>
        </p:nvGraphicFramePr>
        <p:xfrm>
          <a:off x="1836919" y="5266286"/>
          <a:ext cx="2531881" cy="1010920"/>
        </p:xfrm>
        <a:graphic>
          <a:graphicData uri="http://schemas.openxmlformats.org/drawingml/2006/table">
            <a:tbl>
              <a:tblPr firstRow="1" bandRow="1">
                <a:tableStyleId>{5C22544A-7EE6-4342-B048-85BDC9FD1C3A}</a:tableStyleId>
              </a:tblPr>
              <a:tblGrid>
                <a:gridCol w="2531881">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Work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start and track AI sessions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6" name="Table 25">
            <a:extLst>
              <a:ext uri="{FF2B5EF4-FFF2-40B4-BE49-F238E27FC236}">
                <a16:creationId xmlns:a16="http://schemas.microsoft.com/office/drawing/2014/main" id="{8E5517B2-B3BA-F64B-9C33-98CC7B96A12C}"/>
              </a:ext>
            </a:extLst>
          </p:cNvPr>
          <p:cNvGraphicFramePr>
            <a:graphicFrameLocks noGrp="1"/>
          </p:cNvGraphicFramePr>
          <p:nvPr>
            <p:extLst>
              <p:ext uri="{D42A27DB-BD31-4B8C-83A1-F6EECF244321}">
                <p14:modId xmlns:p14="http://schemas.microsoft.com/office/powerpoint/2010/main" val="3229417365"/>
              </p:ext>
            </p:extLst>
          </p:nvPr>
        </p:nvGraphicFramePr>
        <p:xfrm>
          <a:off x="636275" y="2006599"/>
          <a:ext cx="3282806" cy="1559560"/>
        </p:xfrm>
        <a:graphic>
          <a:graphicData uri="http://schemas.openxmlformats.org/drawingml/2006/table">
            <a:tbl>
              <a:tblPr firstRow="1" bandRow="1">
                <a:tableStyleId>{5C22544A-7EE6-4342-B048-85BDC9FD1C3A}</a:tableStyleId>
              </a:tblPr>
              <a:tblGrid>
                <a:gridCol w="3282806">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Solution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choose default AI settings for a repo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any solution projects/modules are shown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spTree>
    <p:extLst>
      <p:ext uri="{BB962C8B-B14F-4D97-AF65-F5344CB8AC3E}">
        <p14:creationId xmlns:p14="http://schemas.microsoft.com/office/powerpoint/2010/main" val="10266603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D9B25-0B4F-AD94-2685-8A0C6C6C5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7FB37-2EA3-80F9-6C02-4BF245E77A60}"/>
              </a:ext>
            </a:extLst>
          </p:cNvPr>
          <p:cNvSpPr>
            <a:spLocks noGrp="1"/>
          </p:cNvSpPr>
          <p:nvPr>
            <p:ph type="title"/>
          </p:nvPr>
        </p:nvSpPr>
        <p:spPr>
          <a:xfrm>
            <a:off x="838200" y="365126"/>
            <a:ext cx="10515600" cy="835602"/>
          </a:xfrm>
        </p:spPr>
        <p:txBody>
          <a:bodyPr/>
          <a:lstStyle/>
          <a:p>
            <a:r>
              <a:rPr lang="en-US" i="1" dirty="0"/>
              <a:t>Getting Started – Starter Sessions</a:t>
            </a:r>
          </a:p>
        </p:txBody>
      </p:sp>
      <p:sp>
        <p:nvSpPr>
          <p:cNvPr id="3" name="Content Placeholder 2">
            <a:extLst>
              <a:ext uri="{FF2B5EF4-FFF2-40B4-BE49-F238E27FC236}">
                <a16:creationId xmlns:a16="http://schemas.microsoft.com/office/drawing/2014/main" id="{29381454-0FCE-C413-4530-1CD2CF5EDA97}"/>
              </a:ext>
            </a:extLst>
          </p:cNvPr>
          <p:cNvSpPr>
            <a:spLocks noGrp="1"/>
          </p:cNvSpPr>
          <p:nvPr>
            <p:ph idx="1"/>
          </p:nvPr>
        </p:nvSpPr>
        <p:spPr>
          <a:xfrm>
            <a:off x="838200" y="1358900"/>
            <a:ext cx="10515600" cy="5384800"/>
          </a:xfrm>
        </p:spPr>
        <p:txBody>
          <a:bodyPr>
            <a:noAutofit/>
          </a:bodyPr>
          <a:lstStyle/>
          <a:p>
            <a:r>
              <a:rPr lang="en-US" sz="2600" dirty="0"/>
              <a:t>When set up a new project, the extension will create two starter sessions:</a:t>
            </a:r>
            <a:br>
              <a:rPr lang="en-US" sz="2600" dirty="0"/>
            </a:br>
            <a:endParaRPr lang="en-US" sz="2600" dirty="0"/>
          </a:p>
          <a:p>
            <a:pPr marL="914400" lvl="1" indent="-457200">
              <a:buFont typeface="+mj-lt"/>
              <a:buAutoNum type="arabicPeriod"/>
            </a:pPr>
            <a:r>
              <a:rPr lang="en-US" dirty="0"/>
              <a:t>"001 · Author or import the solution plan" </a:t>
            </a:r>
          </a:p>
          <a:p>
            <a:pPr lvl="2"/>
            <a:r>
              <a:rPr lang="en-US" dirty="0"/>
              <a:t>User can import an existing project plan</a:t>
            </a:r>
          </a:p>
          <a:p>
            <a:pPr lvl="2"/>
            <a:r>
              <a:rPr lang="en-US" dirty="0"/>
              <a:t>User can work with AI interactively to creates a new project plan</a:t>
            </a:r>
            <a:br>
              <a:rPr lang="en-US" dirty="0"/>
            </a:br>
            <a:endParaRPr lang="en-US" dirty="0"/>
          </a:p>
          <a:p>
            <a:pPr marL="914400" lvl="1" indent="-457200">
              <a:buFont typeface="+mj-lt"/>
              <a:buAutoNum type="arabicPeriod"/>
            </a:pPr>
            <a:r>
              <a:rPr lang="en-US" dirty="0"/>
              <a:t>"002 · Challenge the plan, then break it into numbered sessions"</a:t>
            </a:r>
          </a:p>
          <a:p>
            <a:pPr lvl="2"/>
            <a:r>
              <a:rPr lang="en-US" dirty="0"/>
              <a:t>Breaks down the project plan into a sequence of sessions</a:t>
            </a:r>
          </a:p>
          <a:p>
            <a:pPr lvl="2"/>
            <a:r>
              <a:rPr lang="en-US" dirty="0"/>
              <a:t>Organizes the solution into projects or modules when helpful or where specified – but ensures that the solution decomposition is really warranted (the "challenge")</a:t>
            </a:r>
          </a:p>
          <a:p>
            <a:pPr lvl="2"/>
            <a:endParaRPr lang="en-US" dirty="0"/>
          </a:p>
          <a:p>
            <a:r>
              <a:rPr lang="en-US" sz="2600" dirty="0"/>
              <a:t>Run these sessions in order at the start of each project</a:t>
            </a:r>
          </a:p>
          <a:p>
            <a:r>
              <a:rPr lang="en-US" sz="2600" dirty="0"/>
              <a:t>Often, you will add additional sessions for additional work later</a:t>
            </a:r>
          </a:p>
        </p:txBody>
      </p:sp>
    </p:spTree>
    <p:extLst>
      <p:ext uri="{BB962C8B-B14F-4D97-AF65-F5344CB8AC3E}">
        <p14:creationId xmlns:p14="http://schemas.microsoft.com/office/powerpoint/2010/main" val="23670434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FEC81DB-8592-20EA-FA5D-453C781CEC43}"/>
              </a:ext>
            </a:extLst>
          </p:cNvPr>
          <p:cNvSpPr>
            <a:spLocks noGrp="1"/>
          </p:cNvSpPr>
          <p:nvPr>
            <p:ph type="title"/>
          </p:nvPr>
        </p:nvSpPr>
        <p:spPr>
          <a:xfrm>
            <a:off x="838200" y="492126"/>
            <a:ext cx="10515600" cy="811450"/>
          </a:xfrm>
        </p:spPr>
        <p:txBody>
          <a:bodyPr/>
          <a:lstStyle/>
          <a:p>
            <a:r>
              <a:rPr lang="en-US" i="1" dirty="0"/>
              <a:t>Starting a Session</a:t>
            </a:r>
          </a:p>
        </p:txBody>
      </p:sp>
      <p:sp>
        <p:nvSpPr>
          <p:cNvPr id="9" name="Content Placeholder 8">
            <a:extLst>
              <a:ext uri="{FF2B5EF4-FFF2-40B4-BE49-F238E27FC236}">
                <a16:creationId xmlns:a16="http://schemas.microsoft.com/office/drawing/2014/main" id="{6903AD9D-3EA9-A901-13DB-6C20935CC738}"/>
              </a:ext>
            </a:extLst>
          </p:cNvPr>
          <p:cNvSpPr>
            <a:spLocks noGrp="1"/>
          </p:cNvSpPr>
          <p:nvPr>
            <p:ph idx="1"/>
          </p:nvPr>
        </p:nvSpPr>
        <p:spPr>
          <a:xfrm>
            <a:off x="838200" y="1574800"/>
            <a:ext cx="4927600" cy="5029200"/>
          </a:xfrm>
        </p:spPr>
        <p:txBody>
          <a:bodyPr>
            <a:noAutofit/>
          </a:bodyPr>
          <a:lstStyle/>
          <a:p>
            <a:r>
              <a:rPr lang="en-US" sz="2200" dirty="0"/>
              <a:t>To start a session, right click on the next session and select "Start Session," which runs with AI settings from your Configuration.</a:t>
            </a:r>
          </a:p>
          <a:p>
            <a:r>
              <a:rPr lang="en-US" sz="2200" dirty="0"/>
              <a:t>You can also select "Start Session with Different Models", which prompts you for the AI vehicles and models for the session.</a:t>
            </a:r>
          </a:p>
          <a:p>
            <a:r>
              <a:rPr lang="en-US" sz="2200" dirty="0"/>
              <a:t>You can cancel a session by right clicking and choosing "Cancel Session"</a:t>
            </a:r>
          </a:p>
          <a:p>
            <a:r>
              <a:rPr lang="en-US" sz="2200" dirty="0"/>
              <a:t>You must run sessions in order, but you can have AI change to order of sessions (when you are between sessions) </a:t>
            </a:r>
          </a:p>
        </p:txBody>
      </p:sp>
      <p:pic>
        <p:nvPicPr>
          <p:cNvPr id="3" name="Picture 2">
            <a:extLst>
              <a:ext uri="{FF2B5EF4-FFF2-40B4-BE49-F238E27FC236}">
                <a16:creationId xmlns:a16="http://schemas.microsoft.com/office/drawing/2014/main" id="{3E6C756E-C203-1536-FFD3-5B7EB5065A90}"/>
              </a:ext>
            </a:extLst>
          </p:cNvPr>
          <p:cNvPicPr>
            <a:picLocks noChangeAspect="1"/>
          </p:cNvPicPr>
          <p:nvPr/>
        </p:nvPicPr>
        <p:blipFill>
          <a:blip r:embed="rId2"/>
          <a:stretch>
            <a:fillRect/>
          </a:stretch>
        </p:blipFill>
        <p:spPr>
          <a:xfrm>
            <a:off x="5981700" y="2577961"/>
            <a:ext cx="5771036" cy="2273439"/>
          </a:xfrm>
          <a:prstGeom prst="rect">
            <a:avLst/>
          </a:prstGeom>
        </p:spPr>
      </p:pic>
    </p:spTree>
    <p:extLst>
      <p:ext uri="{BB962C8B-B14F-4D97-AF65-F5344CB8AC3E}">
        <p14:creationId xmlns:p14="http://schemas.microsoft.com/office/powerpoint/2010/main" val="17881432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EF12D-46C0-5B31-F59D-6A32246E1740}"/>
              </a:ext>
            </a:extLst>
          </p:cNvPr>
          <p:cNvSpPr>
            <a:spLocks noGrp="1"/>
          </p:cNvSpPr>
          <p:nvPr>
            <p:ph type="title"/>
          </p:nvPr>
        </p:nvSpPr>
        <p:spPr/>
        <p:txBody>
          <a:bodyPr/>
          <a:lstStyle/>
          <a:p>
            <a:r>
              <a:rPr lang="en-US" i="1" dirty="0"/>
              <a:t>Tracking a Session</a:t>
            </a:r>
          </a:p>
        </p:txBody>
      </p:sp>
      <p:sp>
        <p:nvSpPr>
          <p:cNvPr id="3" name="Content Placeholder 2">
            <a:extLst>
              <a:ext uri="{FF2B5EF4-FFF2-40B4-BE49-F238E27FC236}">
                <a16:creationId xmlns:a16="http://schemas.microsoft.com/office/drawing/2014/main" id="{774329B2-A4A0-E9C8-5A88-4758282B571A}"/>
              </a:ext>
            </a:extLst>
          </p:cNvPr>
          <p:cNvSpPr>
            <a:spLocks noGrp="1"/>
          </p:cNvSpPr>
          <p:nvPr>
            <p:ph idx="1"/>
          </p:nvPr>
        </p:nvSpPr>
        <p:spPr>
          <a:xfrm>
            <a:off x="838200" y="1825625"/>
            <a:ext cx="4107287" cy="4351338"/>
          </a:xfrm>
        </p:spPr>
        <p:txBody>
          <a:bodyPr>
            <a:normAutofit fontScale="92500" lnSpcReduction="10000"/>
          </a:bodyPr>
          <a:lstStyle/>
          <a:p>
            <a:r>
              <a:rPr lang="en-US" sz="2600" dirty="0"/>
              <a:t>When you start a session, it is labeled as "In Progress" (also called </a:t>
            </a:r>
            <a:r>
              <a:rPr lang="en-US" sz="2600" i="1" dirty="0"/>
              <a:t>in flight</a:t>
            </a:r>
            <a:r>
              <a:rPr lang="en-US" sz="2600" dirty="0"/>
              <a:t>)</a:t>
            </a:r>
          </a:p>
          <a:p>
            <a:r>
              <a:rPr lang="en-US" sz="2600" dirty="0"/>
              <a:t>An in-progress session displays its lifecycle phases (register, plan … etc.)</a:t>
            </a:r>
          </a:p>
          <a:p>
            <a:r>
              <a:rPr lang="en-US" sz="2600" dirty="0"/>
              <a:t>When the work phase starts, it displays a list of work steps.</a:t>
            </a:r>
          </a:p>
          <a:p>
            <a:r>
              <a:rPr lang="en-US" sz="2600" dirty="0"/>
              <a:t>When the session is done, it is moved to the "Complete" node in the Work Explorer. </a:t>
            </a:r>
          </a:p>
        </p:txBody>
      </p:sp>
      <p:pic>
        <p:nvPicPr>
          <p:cNvPr id="5" name="Picture 4">
            <a:extLst>
              <a:ext uri="{FF2B5EF4-FFF2-40B4-BE49-F238E27FC236}">
                <a16:creationId xmlns:a16="http://schemas.microsoft.com/office/drawing/2014/main" id="{964DD055-C21C-FB9F-F138-98D8F5693FA9}"/>
              </a:ext>
            </a:extLst>
          </p:cNvPr>
          <p:cNvPicPr>
            <a:picLocks noChangeAspect="1"/>
          </p:cNvPicPr>
          <p:nvPr/>
        </p:nvPicPr>
        <p:blipFill>
          <a:blip r:embed="rId2"/>
          <a:srcRect l="4237" t="56199" r="71367" b="-182"/>
          <a:stretch>
            <a:fillRect/>
          </a:stretch>
        </p:blipFill>
        <p:spPr>
          <a:xfrm>
            <a:off x="6285426" y="1690688"/>
            <a:ext cx="4484174" cy="4372410"/>
          </a:xfrm>
          <a:prstGeom prst="rect">
            <a:avLst/>
          </a:prstGeom>
        </p:spPr>
      </p:pic>
    </p:spTree>
    <p:extLst>
      <p:ext uri="{BB962C8B-B14F-4D97-AF65-F5344CB8AC3E}">
        <p14:creationId xmlns:p14="http://schemas.microsoft.com/office/powerpoint/2010/main" val="3985681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03DDD-90E2-7813-A529-5EEC6DABDB00}"/>
              </a:ext>
            </a:extLst>
          </p:cNvPr>
          <p:cNvSpPr>
            <a:spLocks noGrp="1"/>
          </p:cNvSpPr>
          <p:nvPr>
            <p:ph type="title"/>
          </p:nvPr>
        </p:nvSpPr>
        <p:spPr/>
        <p:txBody>
          <a:bodyPr/>
          <a:lstStyle/>
          <a:p>
            <a:r>
              <a:rPr lang="en-US" dirty="0"/>
              <a:t>Adding or Modifying Sessions</a:t>
            </a:r>
          </a:p>
        </p:txBody>
      </p:sp>
      <p:sp>
        <p:nvSpPr>
          <p:cNvPr id="3" name="Content Placeholder 2">
            <a:extLst>
              <a:ext uri="{FF2B5EF4-FFF2-40B4-BE49-F238E27FC236}">
                <a16:creationId xmlns:a16="http://schemas.microsoft.com/office/drawing/2014/main" id="{9678E180-5917-A17E-300B-A48ED127B515}"/>
              </a:ext>
            </a:extLst>
          </p:cNvPr>
          <p:cNvSpPr>
            <a:spLocks noGrp="1"/>
          </p:cNvSpPr>
          <p:nvPr>
            <p:ph idx="1"/>
          </p:nvPr>
        </p:nvSpPr>
        <p:spPr/>
        <p:txBody>
          <a:bodyPr>
            <a:normAutofit/>
          </a:bodyPr>
          <a:lstStyle/>
          <a:p>
            <a:r>
              <a:rPr lang="en-US" sz="2400" dirty="0"/>
              <a:t>The initial set of session may get you over the finish line, but more often you eventually will need to add new sessions and modify existing sessions.</a:t>
            </a:r>
            <a:br>
              <a:rPr lang="en-US" sz="2400" dirty="0"/>
            </a:br>
            <a:endParaRPr lang="en-US" sz="2400" dirty="0"/>
          </a:p>
          <a:p>
            <a:r>
              <a:rPr lang="en-US" sz="2400" dirty="0"/>
              <a:t>There are two ways to do this:</a:t>
            </a:r>
          </a:p>
          <a:p>
            <a:pPr marL="914400" lvl="1" indent="-457200">
              <a:buFont typeface="+mj-lt"/>
              <a:buAutoNum type="arabicPeriod"/>
            </a:pPr>
            <a:r>
              <a:rPr lang="en-US" sz="2200" dirty="0"/>
              <a:t>"Consult with AI"</a:t>
            </a:r>
          </a:p>
          <a:p>
            <a:pPr lvl="2"/>
            <a:r>
              <a:rPr lang="en-US" dirty="0"/>
              <a:t>Available in the Work Explorer by right-clicking on the solution name or a session</a:t>
            </a:r>
          </a:p>
          <a:p>
            <a:pPr lvl="2"/>
            <a:r>
              <a:rPr lang="en-US" dirty="0"/>
              <a:t>Allows you to choose an AI model</a:t>
            </a:r>
          </a:p>
          <a:p>
            <a:pPr lvl="2"/>
            <a:r>
              <a:rPr lang="en-US" dirty="0"/>
              <a:t>Automatically commits/pushes modified plans</a:t>
            </a:r>
          </a:p>
          <a:p>
            <a:pPr marL="914400" lvl="1" indent="-457200">
              <a:buFont typeface="+mj-lt"/>
              <a:buAutoNum type="arabicPeriod"/>
            </a:pPr>
            <a:r>
              <a:rPr lang="en-US" sz="2200" dirty="0"/>
              <a:t>Ad Hoc AI Chat Window</a:t>
            </a:r>
          </a:p>
          <a:p>
            <a:pPr lvl="2"/>
            <a:r>
              <a:rPr lang="en-US" dirty="0"/>
              <a:t>Use Visual Studio Code to fire up an independent AI chat instance</a:t>
            </a:r>
          </a:p>
          <a:p>
            <a:pPr lvl="2"/>
            <a:r>
              <a:rPr lang="en-US" dirty="0"/>
              <a:t>This is out-of-band, so be careful how you do this if another session is running. (Tell AI  to wait until the in-flight session lands before making any changes to files.)</a:t>
            </a:r>
          </a:p>
        </p:txBody>
      </p:sp>
    </p:spTree>
    <p:extLst>
      <p:ext uri="{BB962C8B-B14F-4D97-AF65-F5344CB8AC3E}">
        <p14:creationId xmlns:p14="http://schemas.microsoft.com/office/powerpoint/2010/main" val="4393821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905FE-C604-2F18-A693-B41F8D012592}"/>
              </a:ext>
            </a:extLst>
          </p:cNvPr>
          <p:cNvSpPr>
            <a:spLocks noGrp="1"/>
          </p:cNvSpPr>
          <p:nvPr>
            <p:ph type="title"/>
          </p:nvPr>
        </p:nvSpPr>
        <p:spPr>
          <a:xfrm>
            <a:off x="838200" y="365125"/>
            <a:ext cx="10515600" cy="1082675"/>
          </a:xfrm>
        </p:spPr>
        <p:txBody>
          <a:bodyPr/>
          <a:lstStyle/>
          <a:p>
            <a:r>
              <a:rPr lang="en-US" i="1" dirty="0"/>
              <a:t>System Files</a:t>
            </a:r>
          </a:p>
        </p:txBody>
      </p:sp>
      <p:sp>
        <p:nvSpPr>
          <p:cNvPr id="3" name="Content Placeholder 2">
            <a:extLst>
              <a:ext uri="{FF2B5EF4-FFF2-40B4-BE49-F238E27FC236}">
                <a16:creationId xmlns:a16="http://schemas.microsoft.com/office/drawing/2014/main" id="{A0625F5A-0612-85A4-A86A-3A806DC4216E}"/>
              </a:ext>
            </a:extLst>
          </p:cNvPr>
          <p:cNvSpPr>
            <a:spLocks noGrp="1"/>
          </p:cNvSpPr>
          <p:nvPr>
            <p:ph idx="1"/>
          </p:nvPr>
        </p:nvSpPr>
        <p:spPr>
          <a:xfrm>
            <a:off x="838200" y="1690688"/>
            <a:ext cx="10515600" cy="4486275"/>
          </a:xfrm>
        </p:spPr>
        <p:txBody>
          <a:bodyPr>
            <a:normAutofit fontScale="92500" lnSpcReduction="10000"/>
          </a:bodyPr>
          <a:lstStyle/>
          <a:p>
            <a:r>
              <a:rPr lang="en-US" dirty="0"/>
              <a:t>The extension (sometimes called "framework") uses files to govern its work.  </a:t>
            </a:r>
          </a:p>
          <a:p>
            <a:r>
              <a:rPr lang="en-US" dirty="0"/>
              <a:t>Do not directly edit anything in the .dabbler directory, nor the session-plan.md file, as these have special formats.</a:t>
            </a:r>
          </a:p>
          <a:p>
            <a:r>
              <a:rPr lang="en-US" dirty="0"/>
              <a:t>Here are some of the important system files:</a:t>
            </a:r>
          </a:p>
          <a:p>
            <a:pPr lvl="1"/>
            <a:r>
              <a:rPr lang="en-US" b="1" u="sng" dirty="0">
                <a:solidFill>
                  <a:srgbClr val="0070C0"/>
                </a:solidFill>
              </a:rPr>
              <a:t>docs\planning\solution-plan.md</a:t>
            </a:r>
            <a:r>
              <a:rPr lang="en-US" dirty="0"/>
              <a:t> – the overall solution plan</a:t>
            </a:r>
            <a:endParaRPr lang="en-US" b="1" u="sng" dirty="0">
              <a:solidFill>
                <a:srgbClr val="0070C0"/>
              </a:solidFill>
            </a:endParaRPr>
          </a:p>
          <a:p>
            <a:pPr lvl="1"/>
            <a:r>
              <a:rPr lang="en-US" b="1" u="sng" dirty="0">
                <a:solidFill>
                  <a:srgbClr val="0070C0"/>
                </a:solidFill>
              </a:rPr>
              <a:t>docs\sessions\session-plan.md</a:t>
            </a:r>
            <a:r>
              <a:rPr lang="en-US" dirty="0"/>
              <a:t> – the session-specific plan</a:t>
            </a:r>
          </a:p>
          <a:p>
            <a:pPr lvl="1"/>
            <a:r>
              <a:rPr lang="en-US" b="1" u="sng" dirty="0">
                <a:solidFill>
                  <a:srgbClr val="0070C0"/>
                </a:solidFill>
              </a:rPr>
              <a:t>.dabbler\solution\</a:t>
            </a:r>
            <a:r>
              <a:rPr lang="en-US" b="1" u="sng" dirty="0" err="1">
                <a:solidFill>
                  <a:srgbClr val="0070C0"/>
                </a:solidFill>
              </a:rPr>
              <a:t>solution.json</a:t>
            </a:r>
            <a:r>
              <a:rPr lang="en-US" dirty="0"/>
              <a:t> – the organization of the solution into projects or modules (if any)</a:t>
            </a:r>
          </a:p>
          <a:p>
            <a:pPr lvl="1"/>
            <a:r>
              <a:rPr lang="en-US" b="1" u="sng" dirty="0">
                <a:solidFill>
                  <a:srgbClr val="0070C0"/>
                </a:solidFill>
              </a:rPr>
              <a:t>.dabbler\...\</a:t>
            </a:r>
            <a:r>
              <a:rPr lang="en-US" b="1" u="sng" dirty="0" err="1">
                <a:solidFill>
                  <a:srgbClr val="0070C0"/>
                </a:solidFill>
              </a:rPr>
              <a:t>instruction.json</a:t>
            </a:r>
            <a:r>
              <a:rPr lang="en-US" u="sng" dirty="0"/>
              <a:t> </a:t>
            </a:r>
            <a:r>
              <a:rPr lang="en-US" dirty="0"/>
              <a:t>– a shared file between the extension and AI that allows coordination of work</a:t>
            </a:r>
          </a:p>
          <a:p>
            <a:pPr lvl="1"/>
            <a:r>
              <a:rPr lang="en-US" b="1" dirty="0" err="1">
                <a:solidFill>
                  <a:srgbClr val="0070C0"/>
                </a:solidFill>
              </a:rPr>
              <a:t>dabbler.yaml</a:t>
            </a:r>
            <a:r>
              <a:rPr lang="en-US" dirty="0"/>
              <a:t> – defines testing and solution packaging</a:t>
            </a:r>
          </a:p>
          <a:p>
            <a:pPr lvl="1"/>
            <a:r>
              <a:rPr lang="en-US" b="1" u="sng" dirty="0">
                <a:solidFill>
                  <a:srgbClr val="0070C0"/>
                </a:solidFill>
              </a:rPr>
              <a:t>AGENTS.md, CLAUDE.me</a:t>
            </a:r>
            <a:r>
              <a:rPr lang="en-US" dirty="0"/>
              <a:t> – initial instruction files for AI models.</a:t>
            </a:r>
          </a:p>
        </p:txBody>
      </p:sp>
    </p:spTree>
    <p:extLst>
      <p:ext uri="{BB962C8B-B14F-4D97-AF65-F5344CB8AC3E}">
        <p14:creationId xmlns:p14="http://schemas.microsoft.com/office/powerpoint/2010/main" val="229979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1EF6E-CEFB-2608-C538-1FE9724AD32C}"/>
              </a:ext>
            </a:extLst>
          </p:cNvPr>
          <p:cNvSpPr>
            <a:spLocks noGrp="1"/>
          </p:cNvSpPr>
          <p:nvPr>
            <p:ph type="title"/>
          </p:nvPr>
        </p:nvSpPr>
        <p:spPr/>
        <p:txBody>
          <a:bodyPr/>
          <a:lstStyle/>
          <a:p>
            <a:r>
              <a:rPr lang="en-US" i="1" dirty="0"/>
              <a:t>Additional Q&amp;A</a:t>
            </a:r>
          </a:p>
        </p:txBody>
      </p:sp>
      <p:sp>
        <p:nvSpPr>
          <p:cNvPr id="3" name="Content Placeholder 2">
            <a:extLst>
              <a:ext uri="{FF2B5EF4-FFF2-40B4-BE49-F238E27FC236}">
                <a16:creationId xmlns:a16="http://schemas.microsoft.com/office/drawing/2014/main" id="{B3AC8D0A-1B14-C3C2-79B3-89E560244202}"/>
              </a:ext>
            </a:extLst>
          </p:cNvPr>
          <p:cNvSpPr>
            <a:spLocks noGrp="1"/>
          </p:cNvSpPr>
          <p:nvPr>
            <p:ph idx="1"/>
          </p:nvPr>
        </p:nvSpPr>
        <p:spPr/>
        <p:txBody>
          <a:bodyPr>
            <a:normAutofit/>
          </a:bodyPr>
          <a:lstStyle/>
          <a:p>
            <a:r>
              <a:rPr lang="en-US" dirty="0"/>
              <a:t>Question: </a:t>
            </a:r>
            <a:r>
              <a:rPr lang="en-US" i="1" dirty="0"/>
              <a:t>This is an open-source extension developed by one person.  Isn't that risky?</a:t>
            </a:r>
            <a:br>
              <a:rPr lang="en-US" dirty="0"/>
            </a:br>
            <a:endParaRPr lang="en-US" dirty="0"/>
          </a:p>
          <a:p>
            <a:r>
              <a:rPr lang="en-US" dirty="0"/>
              <a:t>Answer: </a:t>
            </a:r>
            <a:r>
              <a:rPr lang="en-US" i="1" dirty="0"/>
              <a:t>It is less risky than many open-source extensions because, in reality, it is written by AI and maintained by AI.  Anyone with access to AI can fix or enhance the solution.  Being a developer helps, but you don't have to know anything about AI or TypeScript or Visual Studio Code Extension programming. </a:t>
            </a:r>
          </a:p>
        </p:txBody>
      </p:sp>
    </p:spTree>
    <p:extLst>
      <p:ext uri="{BB962C8B-B14F-4D97-AF65-F5344CB8AC3E}">
        <p14:creationId xmlns:p14="http://schemas.microsoft.com/office/powerpoint/2010/main" val="35408923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C1AB3-0EAE-BCD9-7654-8CC37159596D}"/>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BFEEA118-E19E-86E7-A8A1-9BBE8A61DD4B}"/>
              </a:ext>
            </a:extLst>
          </p:cNvPr>
          <p:cNvSpPr>
            <a:spLocks noGrp="1"/>
          </p:cNvSpPr>
          <p:nvPr>
            <p:ph idx="1"/>
          </p:nvPr>
        </p:nvSpPr>
        <p:spPr/>
        <p:txBody>
          <a:bodyPr/>
          <a:lstStyle/>
          <a:p>
            <a:r>
              <a:rPr lang="en-US" dirty="0"/>
              <a:t>Question: </a:t>
            </a:r>
            <a:r>
              <a:rPr lang="en-US" i="1" dirty="0"/>
              <a:t>What if something better comes along?  Will I have trouble transitioning?</a:t>
            </a:r>
            <a:br>
              <a:rPr lang="en-US" dirty="0"/>
            </a:br>
            <a:endParaRPr lang="en-US" dirty="0"/>
          </a:p>
          <a:p>
            <a:r>
              <a:rPr lang="en-US" dirty="0"/>
              <a:t>Answer: </a:t>
            </a:r>
            <a:r>
              <a:rPr lang="en-US" i="1" dirty="0"/>
              <a:t>If that "something better" includes an AI assistant, have that AI assistant look at your current solution and help you with the transition.  If it doesn't, just fire up an instance of your favorite agentic AI (probably a CLI or an IDE extension) and ask it for help. Again, the AI Orchestration extension uses some special system files that can be ignored or deleted during a transition.</a:t>
            </a:r>
          </a:p>
        </p:txBody>
      </p:sp>
    </p:spTree>
    <p:extLst>
      <p:ext uri="{BB962C8B-B14F-4D97-AF65-F5344CB8AC3E}">
        <p14:creationId xmlns:p14="http://schemas.microsoft.com/office/powerpoint/2010/main" val="32714253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D9EBF-4A8F-FE28-69C6-0567DF064C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923EA5-8B9D-1DA5-7F45-6328219F3EA9}"/>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8D37E5C1-E167-AD45-7C59-55A30AB4188E}"/>
              </a:ext>
            </a:extLst>
          </p:cNvPr>
          <p:cNvSpPr>
            <a:spLocks noGrp="1"/>
          </p:cNvSpPr>
          <p:nvPr>
            <p:ph idx="1"/>
          </p:nvPr>
        </p:nvSpPr>
        <p:spPr/>
        <p:txBody>
          <a:bodyPr/>
          <a:lstStyle/>
          <a:p>
            <a:r>
              <a:rPr lang="en-US" dirty="0"/>
              <a:t>Question: </a:t>
            </a:r>
            <a:r>
              <a:rPr lang="en-US" i="1" dirty="0"/>
              <a:t>This extension seems to be tailored toward .NET and Java solutions.  Can you use it for other things?</a:t>
            </a:r>
            <a:br>
              <a:rPr lang="en-US" dirty="0"/>
            </a:br>
            <a:endParaRPr lang="en-US" dirty="0"/>
          </a:p>
          <a:p>
            <a:r>
              <a:rPr lang="en-US" dirty="0"/>
              <a:t>Answer: </a:t>
            </a:r>
            <a:r>
              <a:rPr lang="en-US" i="1" dirty="0"/>
              <a:t>Yes.  The framework author has used past versions of the extension for a python application, a Scheme application, multiple HTML applications, and scripts that extend the functionality of Inkscape and GIMP.  Of course, if you want special functionality that supports a particular language or framework, you can fork the repo in GitHub.</a:t>
            </a:r>
          </a:p>
        </p:txBody>
      </p:sp>
    </p:spTree>
    <p:extLst>
      <p:ext uri="{BB962C8B-B14F-4D97-AF65-F5344CB8AC3E}">
        <p14:creationId xmlns:p14="http://schemas.microsoft.com/office/powerpoint/2010/main" val="3403301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14F7E-05FB-7173-096B-35DDA6EF93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095504-EB60-8306-A905-5000C347BBF6}"/>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03F7AE78-1854-57D2-E473-83B338A906C8}"/>
              </a:ext>
            </a:extLst>
          </p:cNvPr>
          <p:cNvSpPr>
            <a:spLocks noGrp="1"/>
          </p:cNvSpPr>
          <p:nvPr>
            <p:ph idx="1"/>
          </p:nvPr>
        </p:nvSpPr>
        <p:spPr/>
        <p:txBody>
          <a:bodyPr/>
          <a:lstStyle/>
          <a:p>
            <a:r>
              <a:rPr lang="en-US" dirty="0"/>
              <a:t>Question: </a:t>
            </a:r>
            <a:r>
              <a:rPr lang="en-US" i="1" dirty="0"/>
              <a:t>What if AI takes over the world?  Should I stop using the AI Orchestration extension?</a:t>
            </a:r>
            <a:br>
              <a:rPr lang="en-US" dirty="0"/>
            </a:br>
            <a:endParaRPr lang="en-US" dirty="0"/>
          </a:p>
          <a:p>
            <a:r>
              <a:rPr lang="en-US" dirty="0"/>
              <a:t>Answer: </a:t>
            </a:r>
            <a:r>
              <a:rPr lang="en-US" i="1" dirty="0"/>
              <a:t>If that happens, you will have more important things to worry about than the extension. </a:t>
            </a:r>
          </a:p>
        </p:txBody>
      </p:sp>
    </p:spTree>
    <p:extLst>
      <p:ext uri="{BB962C8B-B14F-4D97-AF65-F5344CB8AC3E}">
        <p14:creationId xmlns:p14="http://schemas.microsoft.com/office/powerpoint/2010/main" val="21595321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E21C9-0750-8D03-4BFF-AAC1E5C31051}"/>
              </a:ext>
            </a:extLst>
          </p:cNvPr>
          <p:cNvSpPr>
            <a:spLocks noGrp="1"/>
          </p:cNvSpPr>
          <p:nvPr>
            <p:ph type="title"/>
          </p:nvPr>
        </p:nvSpPr>
        <p:spPr/>
        <p:txBody>
          <a:bodyPr/>
          <a:lstStyle/>
          <a:p>
            <a:r>
              <a:rPr lang="en-US" i="1" dirty="0"/>
              <a:t>Sample Planning Prompts – .NET </a:t>
            </a:r>
          </a:p>
        </p:txBody>
      </p:sp>
      <p:sp>
        <p:nvSpPr>
          <p:cNvPr id="3" name="Content Placeholder 2">
            <a:extLst>
              <a:ext uri="{FF2B5EF4-FFF2-40B4-BE49-F238E27FC236}">
                <a16:creationId xmlns:a16="http://schemas.microsoft.com/office/drawing/2014/main" id="{E92EFCE2-38A2-D601-21E8-5C6EF7FE3D3B}"/>
              </a:ext>
            </a:extLst>
          </p:cNvPr>
          <p:cNvSpPr>
            <a:spLocks noGrp="1"/>
          </p:cNvSpPr>
          <p:nvPr>
            <p:ph idx="1"/>
          </p:nvPr>
        </p:nvSpPr>
        <p:spPr>
          <a:xfrm>
            <a:off x="838200" y="1690688"/>
            <a:ext cx="10515600" cy="4802187"/>
          </a:xfrm>
        </p:spPr>
        <p:txBody>
          <a:bodyPr>
            <a:normAutofit fontScale="85000" lnSpcReduction="20000"/>
          </a:bodyPr>
          <a:lstStyle/>
          <a:p>
            <a:r>
              <a:rPr lang="en-US" dirty="0"/>
              <a:t>If you would like to see how the extension works, follow the instructions on previous slides to set up a project, and then after you start session 001, when AI prompts you for information, enter this prompt:</a:t>
            </a:r>
            <a:br>
              <a:rPr lang="en-US" dirty="0"/>
            </a:br>
            <a:endParaRPr lang="en-US" dirty="0"/>
          </a:p>
          <a:p>
            <a:pPr marL="457200" lvl="1" indent="0">
              <a:buNone/>
            </a:pPr>
            <a:r>
              <a:rPr lang="en-US" i="1" dirty="0">
                <a:latin typeface="Courier New" panose="02070309020205020404" pitchFamily="49" charset="0"/>
                <a:cs typeface="Courier New" panose="02070309020205020404" pitchFamily="49" charset="0"/>
              </a:rPr>
              <a:t>The true purpose of this solution is to learn the Dabbler AI Orchestration platform. The exercise will take the form of a solution whose main project is a console app that reads in CSV files from a folder, deserializes the files into Person objects, persists the objects to a SQLite database using Entity Framework, and then displays all records from the database in the console.  I would like to break the project up into several projects -- a Person model library project, a </a:t>
            </a:r>
            <a:r>
              <a:rPr lang="en-US" i="1" dirty="0" err="1">
                <a:latin typeface="Courier New" panose="02070309020205020404" pitchFamily="49" charset="0"/>
                <a:cs typeface="Courier New" panose="02070309020205020404" pitchFamily="49" charset="0"/>
              </a:rPr>
              <a:t>deserializer</a:t>
            </a:r>
            <a:r>
              <a:rPr lang="en-US" i="1" dirty="0">
                <a:latin typeface="Courier New" panose="02070309020205020404" pitchFamily="49" charset="0"/>
                <a:cs typeface="Courier New" panose="02070309020205020404" pitchFamily="49" charset="0"/>
              </a:rPr>
              <a:t> project, a project that does the persisting to the database and the querying, and the console application.  I would like this to be a .NET 10 solution.</a:t>
            </a:r>
            <a:br>
              <a:rPr lang="en-US" i="1" dirty="0">
                <a:latin typeface="Courier New" panose="02070309020205020404" pitchFamily="49" charset="0"/>
                <a:cs typeface="Courier New" panose="02070309020205020404" pitchFamily="49" charset="0"/>
              </a:rPr>
            </a:br>
            <a:endParaRPr lang="en-US" i="1" dirty="0">
              <a:latin typeface="Courier New" panose="02070309020205020404" pitchFamily="49" charset="0"/>
              <a:cs typeface="Courier New" panose="02070309020205020404" pitchFamily="49" charset="0"/>
            </a:endParaRPr>
          </a:p>
          <a:p>
            <a:r>
              <a:rPr lang="en-US" dirty="0"/>
              <a:t>NOTE: To keep costs down, you should use less expensive models for this work – e.g., Luna, Haiku, or older versions of Flash.</a:t>
            </a:r>
          </a:p>
        </p:txBody>
      </p:sp>
    </p:spTree>
    <p:extLst>
      <p:ext uri="{BB962C8B-B14F-4D97-AF65-F5344CB8AC3E}">
        <p14:creationId xmlns:p14="http://schemas.microsoft.com/office/powerpoint/2010/main" val="17559841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08608-07EC-ED0B-7865-4BFD642D4A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84BF81-7AD6-D479-F7E2-1C95C1AC472A}"/>
              </a:ext>
            </a:extLst>
          </p:cNvPr>
          <p:cNvSpPr>
            <a:spLocks noGrp="1"/>
          </p:cNvSpPr>
          <p:nvPr>
            <p:ph type="title"/>
          </p:nvPr>
        </p:nvSpPr>
        <p:spPr/>
        <p:txBody>
          <a:bodyPr/>
          <a:lstStyle/>
          <a:p>
            <a:r>
              <a:rPr lang="en-US" i="1"/>
              <a:t>Sample Planning Prompts – </a:t>
            </a:r>
            <a:r>
              <a:rPr lang="en-US" i="1" dirty="0"/>
              <a:t>Java </a:t>
            </a:r>
          </a:p>
        </p:txBody>
      </p:sp>
      <p:sp>
        <p:nvSpPr>
          <p:cNvPr id="3" name="Content Placeholder 2">
            <a:extLst>
              <a:ext uri="{FF2B5EF4-FFF2-40B4-BE49-F238E27FC236}">
                <a16:creationId xmlns:a16="http://schemas.microsoft.com/office/drawing/2014/main" id="{23FE49B7-3D01-C731-0083-E2017F8BE3C3}"/>
              </a:ext>
            </a:extLst>
          </p:cNvPr>
          <p:cNvSpPr>
            <a:spLocks noGrp="1"/>
          </p:cNvSpPr>
          <p:nvPr>
            <p:ph idx="1"/>
          </p:nvPr>
        </p:nvSpPr>
        <p:spPr>
          <a:xfrm>
            <a:off x="838200" y="1690688"/>
            <a:ext cx="10515600" cy="4802187"/>
          </a:xfrm>
        </p:spPr>
        <p:txBody>
          <a:bodyPr>
            <a:normAutofit fontScale="85000" lnSpcReduction="20000"/>
          </a:bodyPr>
          <a:lstStyle/>
          <a:p>
            <a:r>
              <a:rPr lang="en-US" dirty="0"/>
              <a:t>If you would like to see how the extension works, follow the instructions on previous slides to set up a project, and then after you start session 001, when AI prompts you for information, enter this prompt:</a:t>
            </a:r>
            <a:br>
              <a:rPr lang="en-US" dirty="0"/>
            </a:br>
            <a:endParaRPr lang="en-US" dirty="0"/>
          </a:p>
          <a:p>
            <a:pPr marL="457200" lvl="1" indent="0">
              <a:buNone/>
            </a:pPr>
            <a:r>
              <a:rPr lang="en-US" i="1" dirty="0">
                <a:latin typeface="Courier New" panose="02070309020205020404" pitchFamily="49" charset="0"/>
                <a:cs typeface="Courier New" panose="02070309020205020404" pitchFamily="49" charset="0"/>
              </a:rPr>
              <a:t>The true purpose of this solution is to learn the Dabbler AI Orchestration platform. The exercise will take the form of a solution whose main project is a console app that reads in CSV files from a folder, deserializes the files into Person objects, persists the objects to a SQLite database using JPA, and then displays all records from the database in the console.  I would like for the project to break the project up into several modules -- a Person model library module, a </a:t>
            </a:r>
            <a:r>
              <a:rPr lang="en-US" i="1" dirty="0" err="1">
                <a:latin typeface="Courier New" panose="02070309020205020404" pitchFamily="49" charset="0"/>
                <a:cs typeface="Courier New" panose="02070309020205020404" pitchFamily="49" charset="0"/>
              </a:rPr>
              <a:t>deserializer</a:t>
            </a:r>
            <a:r>
              <a:rPr lang="en-US" i="1" dirty="0">
                <a:latin typeface="Courier New" panose="02070309020205020404" pitchFamily="49" charset="0"/>
                <a:cs typeface="Courier New" panose="02070309020205020404" pitchFamily="49" charset="0"/>
              </a:rPr>
              <a:t> module, a module that does the persisting to the database and the querying, and the console application.  I would like this to be a Java Maven solution.</a:t>
            </a:r>
            <a:br>
              <a:rPr lang="en-US" i="1" dirty="0">
                <a:latin typeface="Courier New" panose="02070309020205020404" pitchFamily="49" charset="0"/>
                <a:cs typeface="Courier New" panose="02070309020205020404" pitchFamily="49" charset="0"/>
              </a:rPr>
            </a:br>
            <a:endParaRPr lang="en-US" i="1" dirty="0">
              <a:latin typeface="Courier New" panose="02070309020205020404" pitchFamily="49" charset="0"/>
              <a:cs typeface="Courier New" panose="02070309020205020404" pitchFamily="49" charset="0"/>
            </a:endParaRPr>
          </a:p>
          <a:p>
            <a:r>
              <a:rPr lang="en-US" dirty="0"/>
              <a:t>NOTE: To keep costs down, you should use less expensive models for this work – e.g., Luna, Haiku, or older versions of Flash.</a:t>
            </a:r>
          </a:p>
        </p:txBody>
      </p:sp>
    </p:spTree>
    <p:extLst>
      <p:ext uri="{BB962C8B-B14F-4D97-AF65-F5344CB8AC3E}">
        <p14:creationId xmlns:p14="http://schemas.microsoft.com/office/powerpoint/2010/main" val="4826271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6142</TotalTime>
  <Words>2166</Words>
  <Application>Microsoft Office PowerPoint</Application>
  <PresentationFormat>Widescreen</PresentationFormat>
  <Paragraphs>127</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Aptos Display</vt:lpstr>
      <vt:lpstr>Arial</vt:lpstr>
      <vt:lpstr>Courier New</vt:lpstr>
      <vt:lpstr>Office Theme</vt:lpstr>
      <vt:lpstr>AI Orchestration</vt:lpstr>
      <vt:lpstr>What is this?</vt:lpstr>
      <vt:lpstr>What if I don’t want to use it?</vt:lpstr>
      <vt:lpstr>Getting Started – Installation and Accounts</vt:lpstr>
      <vt:lpstr>Getting Started – Project* Set Up</vt:lpstr>
      <vt:lpstr>Getting Started – Default AI Configurations for Repo</vt:lpstr>
      <vt:lpstr>Getting Started – Orchestration Layout</vt:lpstr>
      <vt:lpstr>Getting Started – Starter Sessions</vt:lpstr>
      <vt:lpstr>Starting a Session</vt:lpstr>
      <vt:lpstr>Tracking a Session</vt:lpstr>
      <vt:lpstr>Adding or Modifying Sessions</vt:lpstr>
      <vt:lpstr>System Files</vt:lpstr>
      <vt:lpstr>Additional Q&amp;A</vt:lpstr>
      <vt:lpstr>Additional Q&amp;A</vt:lpstr>
      <vt:lpstr>Additional Q&amp;A</vt:lpstr>
      <vt:lpstr>Additional Q&amp;A</vt:lpstr>
      <vt:lpstr>Sample Planning Prompts – .NET </vt:lpstr>
      <vt:lpstr>Sample Planning Prompts – Java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Mitchell, Dennis C</dc:creator>
  <cp:lastModifiedBy>Mitchell, Dennis C</cp:lastModifiedBy>
  <cp:revision>7</cp:revision>
  <dcterms:created xsi:type="dcterms:W3CDTF">2026-09-16T05:54:25Z</dcterms:created>
  <dcterms:modified xsi:type="dcterms:W3CDTF">2026-09-21T17:59:03Z</dcterms:modified>
</cp:coreProperties>
</file>