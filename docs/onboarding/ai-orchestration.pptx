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showGuides="1">
      <p:cViewPr varScale="1">
        <p:scale>
          <a:sx n="104" d="100"/>
          <a:sy n="104" d="100"/>
        </p:scale>
        <p:origin x="678"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8E4A-742A-FCEB-24DB-A22AB1E311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3E1068-85FE-FA57-A9C7-5CA578098E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526105-DEF9-2879-66F6-B08533579BE4}"/>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5" name="Footer Placeholder 4">
            <a:extLst>
              <a:ext uri="{FF2B5EF4-FFF2-40B4-BE49-F238E27FC236}">
                <a16:creationId xmlns:a16="http://schemas.microsoft.com/office/drawing/2014/main" id="{75E53B50-531D-D26E-031B-D26AEB0D9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613D9-CD88-0A5B-2D6F-0DEE3815B0C2}"/>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100752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D6656-4650-0C2A-41C5-1803571854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3F4FC6-1A16-5794-A045-842C1DCAEE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59C93-4919-44B3-DD0A-B0243D92DC0C}"/>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5" name="Footer Placeholder 4">
            <a:extLst>
              <a:ext uri="{FF2B5EF4-FFF2-40B4-BE49-F238E27FC236}">
                <a16:creationId xmlns:a16="http://schemas.microsoft.com/office/drawing/2014/main" id="{BA3B60FD-8875-BEF2-B98E-CAA40759E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CDEDB-6E55-5E33-7A5F-ACC69ABDF105}"/>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4127179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E4DB-9167-059A-A8EA-28D9AB5B4E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063A92-7157-71D1-A8B7-9EDC75495A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8A855E-87E1-E952-7A9D-86F42E47A497}"/>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5" name="Footer Placeholder 4">
            <a:extLst>
              <a:ext uri="{FF2B5EF4-FFF2-40B4-BE49-F238E27FC236}">
                <a16:creationId xmlns:a16="http://schemas.microsoft.com/office/drawing/2014/main" id="{73378C39-3282-94C1-B827-91DE2D5AF9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BFCB33-9F76-47E7-A79A-52A206F01942}"/>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4006809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ACC55-B493-207B-296D-7D3AAECCA5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41BC71-FE79-9C02-84BD-38F050490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D6B6EC-1C33-5EFB-4664-9058E6D4E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15A0F8-B40E-2453-150B-0DE22FEAF01A}"/>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6" name="Footer Placeholder 5">
            <a:extLst>
              <a:ext uri="{FF2B5EF4-FFF2-40B4-BE49-F238E27FC236}">
                <a16:creationId xmlns:a16="http://schemas.microsoft.com/office/drawing/2014/main" id="{E87B6C83-351D-49C2-C1F7-991479EF5D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96FB87-4A98-D9FF-B973-0B18C727ADE4}"/>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2746095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17D7-8F5D-1B38-F9E8-E29B167CA2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4CD8B7-1177-8B6E-A0B1-4132A850D5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F177D6-6061-C366-2AF2-847CCB506A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FE42D0-9DEE-1E4F-0929-3F4C88A5F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C3D390-3346-03C2-1257-AD481A35C8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86B78C-B752-1661-151F-3B916BF6FE9A}"/>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8" name="Footer Placeholder 7">
            <a:extLst>
              <a:ext uri="{FF2B5EF4-FFF2-40B4-BE49-F238E27FC236}">
                <a16:creationId xmlns:a16="http://schemas.microsoft.com/office/drawing/2014/main" id="{1A473981-833C-1724-66CA-3E80FB7DB7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76AED0-30BE-81E8-2CD1-4CA308CD32FF}"/>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3934426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04EFD-DD74-E5F8-13C6-72EACF652D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1D07EE-8EB6-879B-4463-5C7E36DAC411}"/>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4" name="Footer Placeholder 3">
            <a:extLst>
              <a:ext uri="{FF2B5EF4-FFF2-40B4-BE49-F238E27FC236}">
                <a16:creationId xmlns:a16="http://schemas.microsoft.com/office/drawing/2014/main" id="{8BDB417A-7EAF-F196-6479-FFBA34D5F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E7B423-23BA-8149-1B67-FB48D08D5BC1}"/>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1366051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479112-F479-2AD4-C17B-9FA978E1D8E1}"/>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3" name="Footer Placeholder 2">
            <a:extLst>
              <a:ext uri="{FF2B5EF4-FFF2-40B4-BE49-F238E27FC236}">
                <a16:creationId xmlns:a16="http://schemas.microsoft.com/office/drawing/2014/main" id="{8AF6B570-A6BD-2A51-F2EF-5DFA1F8421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5F9238-CD19-FFBF-7620-150C0BF2686A}"/>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3816761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5047-A472-B451-95B2-146A352C54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086D11-5C33-B0D5-25E3-0CB3F1925A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080BBF-90AD-506B-DFA8-9CC961A4E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326FCD-CC20-4725-E81B-4E41A98FD4E6}"/>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6" name="Footer Placeholder 5">
            <a:extLst>
              <a:ext uri="{FF2B5EF4-FFF2-40B4-BE49-F238E27FC236}">
                <a16:creationId xmlns:a16="http://schemas.microsoft.com/office/drawing/2014/main" id="{C95854C3-592D-8A59-8CF3-8B072FCDC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6E19B0-3A36-E9E8-54DA-658C27FE4D67}"/>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1475821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1647A-BEA9-0D97-89D2-BC18B8091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CB5C2B-90E0-FE53-49A4-160D40A9C4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B960C8-2A8D-E394-238F-8015B993E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8A2AD3-A548-0BA8-13F2-586E43C6987A}"/>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6" name="Footer Placeholder 5">
            <a:extLst>
              <a:ext uri="{FF2B5EF4-FFF2-40B4-BE49-F238E27FC236}">
                <a16:creationId xmlns:a16="http://schemas.microsoft.com/office/drawing/2014/main" id="{954EB864-C721-17CB-750F-5C413EEA5D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2E9DE-6A3B-EDA3-4266-119A413B132F}"/>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3580568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84CFB-402F-13A3-6905-15C053132D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BBBC76-102C-616A-6B13-7CC15DD6B1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52B14-DB56-A602-39E5-E38A02DD6203}"/>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5" name="Footer Placeholder 4">
            <a:extLst>
              <a:ext uri="{FF2B5EF4-FFF2-40B4-BE49-F238E27FC236}">
                <a16:creationId xmlns:a16="http://schemas.microsoft.com/office/drawing/2014/main" id="{6D836967-C716-9ED1-59C3-887101CF5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75A861-AB4F-9D2C-36C4-BBD2C873AEDF}"/>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2695819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ED0A3E-382B-20A9-E6F3-67DDF13944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1218A8-4C42-0376-32BB-9F0DB97471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A3CC8A-2584-C04F-6282-07403AA2C3B5}"/>
              </a:ext>
            </a:extLst>
          </p:cNvPr>
          <p:cNvSpPr>
            <a:spLocks noGrp="1"/>
          </p:cNvSpPr>
          <p:nvPr>
            <p:ph type="dt" sz="half" idx="10"/>
          </p:nvPr>
        </p:nvSpPr>
        <p:spPr/>
        <p:txBody>
          <a:bodyPr/>
          <a:lstStyle/>
          <a:p>
            <a:fld id="{89743378-6FBE-468B-B28B-85AEB7ADD678}" type="datetimeFigureOut">
              <a:rPr lang="en-US" smtClean="0"/>
              <a:t>9/16/2026</a:t>
            </a:fld>
            <a:endParaRPr lang="en-US"/>
          </a:p>
        </p:txBody>
      </p:sp>
      <p:sp>
        <p:nvSpPr>
          <p:cNvPr id="5" name="Footer Placeholder 4">
            <a:extLst>
              <a:ext uri="{FF2B5EF4-FFF2-40B4-BE49-F238E27FC236}">
                <a16:creationId xmlns:a16="http://schemas.microsoft.com/office/drawing/2014/main" id="{0644A858-9B20-6B56-D3AF-EF8EDAD99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69217-71A0-6283-72AC-FD0C373BFDF4}"/>
              </a:ext>
            </a:extLst>
          </p:cNvPr>
          <p:cNvSpPr>
            <a:spLocks noGrp="1"/>
          </p:cNvSpPr>
          <p:nvPr>
            <p:ph type="sldNum" sz="quarter" idx="12"/>
          </p:nvPr>
        </p:nvSpPr>
        <p:spPr/>
        <p:txBody>
          <a:bodyPr/>
          <a:lstStyle/>
          <a:p>
            <a:fld id="{C111E358-B9EC-4A18-A59E-643270489B09}" type="slidenum">
              <a:rPr lang="en-US" smtClean="0"/>
              <a:t>‹#›</a:t>
            </a:fld>
            <a:endParaRPr lang="en-US"/>
          </a:p>
        </p:txBody>
      </p:sp>
    </p:spTree>
    <p:extLst>
      <p:ext uri="{BB962C8B-B14F-4D97-AF65-F5344CB8AC3E}">
        <p14:creationId xmlns:p14="http://schemas.microsoft.com/office/powerpoint/2010/main" val="311325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02CF5-C6F6-35BD-F00A-871291E928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301BBB-75CD-F320-109E-62DAF8616D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8CAC7-87F2-B3DB-6933-69BEA8292C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743378-6FBE-468B-B28B-85AEB7ADD678}" type="datetimeFigureOut">
              <a:rPr lang="en-US" smtClean="0"/>
              <a:t>9/16/2026</a:t>
            </a:fld>
            <a:endParaRPr lang="en-US"/>
          </a:p>
        </p:txBody>
      </p:sp>
      <p:sp>
        <p:nvSpPr>
          <p:cNvPr id="5" name="Footer Placeholder 4">
            <a:extLst>
              <a:ext uri="{FF2B5EF4-FFF2-40B4-BE49-F238E27FC236}">
                <a16:creationId xmlns:a16="http://schemas.microsoft.com/office/drawing/2014/main" id="{23FE99C7-9589-8131-5C0F-2C96B4AFA9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A7D0BA-5733-E052-AD57-72719B13A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11E358-B9EC-4A18-A59E-643270489B09}" type="slidenum">
              <a:rPr lang="en-US" smtClean="0"/>
              <a:t>‹#›</a:t>
            </a:fld>
            <a:endParaRPr lang="en-US"/>
          </a:p>
        </p:txBody>
      </p:sp>
    </p:spTree>
    <p:extLst>
      <p:ext uri="{BB962C8B-B14F-4D97-AF65-F5344CB8AC3E}">
        <p14:creationId xmlns:p14="http://schemas.microsoft.com/office/powerpoint/2010/main" val="1987608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4FEF8-2C39-68A6-760D-F36FF705E757}"/>
              </a:ext>
            </a:extLst>
          </p:cNvPr>
          <p:cNvSpPr>
            <a:spLocks noGrp="1"/>
          </p:cNvSpPr>
          <p:nvPr>
            <p:ph type="ctrTitle"/>
          </p:nvPr>
        </p:nvSpPr>
        <p:spPr/>
        <p:txBody>
          <a:bodyPr/>
          <a:lstStyle/>
          <a:p>
            <a:r>
              <a:rPr lang="en-US" dirty="0"/>
              <a:t>AI Orchestration</a:t>
            </a:r>
          </a:p>
        </p:txBody>
      </p:sp>
      <p:sp>
        <p:nvSpPr>
          <p:cNvPr id="3" name="Subtitle 2">
            <a:extLst>
              <a:ext uri="{FF2B5EF4-FFF2-40B4-BE49-F238E27FC236}">
                <a16:creationId xmlns:a16="http://schemas.microsoft.com/office/drawing/2014/main" id="{E8DEC77E-B5E0-7176-3C17-81508DDD9F51}"/>
              </a:ext>
            </a:extLst>
          </p:cNvPr>
          <p:cNvSpPr>
            <a:spLocks noGrp="1"/>
          </p:cNvSpPr>
          <p:nvPr>
            <p:ph type="subTitle" idx="1"/>
          </p:nvPr>
        </p:nvSpPr>
        <p:spPr/>
        <p:txBody>
          <a:bodyPr/>
          <a:lstStyle/>
          <a:p>
            <a:r>
              <a:rPr lang="en-US" dirty="0"/>
              <a:t>Overview and Tutorial Walkthrough</a:t>
            </a:r>
          </a:p>
        </p:txBody>
      </p:sp>
    </p:spTree>
    <p:extLst>
      <p:ext uri="{BB962C8B-B14F-4D97-AF65-F5344CB8AC3E}">
        <p14:creationId xmlns:p14="http://schemas.microsoft.com/office/powerpoint/2010/main" val="3264016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0397E-79F0-104B-53D6-E95D18BD74F8}"/>
              </a:ext>
            </a:extLst>
          </p:cNvPr>
          <p:cNvSpPr>
            <a:spLocks noGrp="1"/>
          </p:cNvSpPr>
          <p:nvPr>
            <p:ph type="title"/>
          </p:nvPr>
        </p:nvSpPr>
        <p:spPr>
          <a:xfrm>
            <a:off x="838200" y="365125"/>
            <a:ext cx="10515600" cy="706293"/>
          </a:xfrm>
        </p:spPr>
        <p:txBody>
          <a:bodyPr/>
          <a:lstStyle/>
          <a:p>
            <a:r>
              <a:rPr lang="en-US" i="1" dirty="0"/>
              <a:t>What is this?</a:t>
            </a:r>
          </a:p>
        </p:txBody>
      </p:sp>
      <p:sp>
        <p:nvSpPr>
          <p:cNvPr id="3" name="Content Placeholder 2">
            <a:extLst>
              <a:ext uri="{FF2B5EF4-FFF2-40B4-BE49-F238E27FC236}">
                <a16:creationId xmlns:a16="http://schemas.microsoft.com/office/drawing/2014/main" id="{50228E7D-4ACF-B90A-FD68-BFAB085B10F8}"/>
              </a:ext>
            </a:extLst>
          </p:cNvPr>
          <p:cNvSpPr>
            <a:spLocks noGrp="1"/>
          </p:cNvSpPr>
          <p:nvPr>
            <p:ph idx="1"/>
          </p:nvPr>
        </p:nvSpPr>
        <p:spPr>
          <a:xfrm>
            <a:off x="838200" y="1376218"/>
            <a:ext cx="10515600" cy="5006109"/>
          </a:xfrm>
        </p:spPr>
        <p:txBody>
          <a:bodyPr>
            <a:normAutofit fontScale="92500" lnSpcReduction="20000"/>
          </a:bodyPr>
          <a:lstStyle/>
          <a:p>
            <a:r>
              <a:rPr lang="en-US" sz="2400" dirty="0"/>
              <a:t>A Visual Studio Code Extension called Dabbler AI Orchestration</a:t>
            </a:r>
          </a:p>
          <a:p>
            <a:r>
              <a:rPr lang="en-US" sz="2400" dirty="0"/>
              <a:t>The main purpose of the extension is to improve AI-facilitated development in a few ways:</a:t>
            </a:r>
            <a:br>
              <a:rPr lang="en-US" sz="2400" dirty="0"/>
            </a:br>
            <a:endParaRPr lang="en-US" sz="2400" dirty="0"/>
          </a:p>
          <a:p>
            <a:pPr marL="914400" lvl="1" indent="-457200">
              <a:buFont typeface="+mj-lt"/>
              <a:buAutoNum type="arabicPeriod"/>
            </a:pPr>
            <a:r>
              <a:rPr lang="en-US" sz="1900" b="1" u="sng" dirty="0">
                <a:solidFill>
                  <a:srgbClr val="0070C0"/>
                </a:solidFill>
              </a:rPr>
              <a:t>Cross-Provider Verification</a:t>
            </a:r>
            <a:r>
              <a:rPr lang="en-US" sz="1900" b="1" dirty="0">
                <a:solidFill>
                  <a:srgbClr val="0070C0"/>
                </a:solidFill>
              </a:rPr>
              <a:t> </a:t>
            </a:r>
            <a:r>
              <a:rPr lang="en-US" sz="1900" dirty="0"/>
              <a:t>– </a:t>
            </a:r>
            <a:r>
              <a:rPr lang="en-US" sz="1900" i="1" dirty="0"/>
              <a:t>make  it easier to verify work (with potentially multiple feedback/fix rounds) by a second, independent AI Provider</a:t>
            </a:r>
            <a:r>
              <a:rPr lang="en-US" sz="1900" dirty="0"/>
              <a:t>.  AI makes mistakes, but a second AI provider (with a well-crafted prompt) often catches those mistakes, reducing the burden on human operators.</a:t>
            </a:r>
            <a:br>
              <a:rPr lang="en-US" sz="1900" dirty="0"/>
            </a:br>
            <a:endParaRPr lang="en-US" sz="1900" dirty="0"/>
          </a:p>
          <a:p>
            <a:pPr marL="914400" lvl="1" indent="-457200">
              <a:buFont typeface="+mj-lt"/>
              <a:buAutoNum type="arabicPeriod"/>
            </a:pPr>
            <a:r>
              <a:rPr lang="en-US" sz="1900" b="1" u="sng" dirty="0">
                <a:solidFill>
                  <a:srgbClr val="0070C0"/>
                </a:solidFill>
              </a:rPr>
              <a:t>Standardized Work Across Sessions</a:t>
            </a:r>
            <a:r>
              <a:rPr lang="en-US" sz="1900" dirty="0"/>
              <a:t> – </a:t>
            </a:r>
            <a:r>
              <a:rPr lang="en-US" sz="1900" i="1" dirty="0"/>
              <a:t>organize AI project work into sessions with uniform lifecycles</a:t>
            </a:r>
            <a:r>
              <a:rPr lang="en-US" sz="1900" dirty="0"/>
              <a:t>. </a:t>
            </a:r>
          </a:p>
          <a:p>
            <a:pPr marL="1371600" lvl="2" indent="-457200">
              <a:buFont typeface="+mj-lt"/>
              <a:buAutoNum type="alphaLcPeriod"/>
            </a:pPr>
            <a:r>
              <a:rPr lang="en-US" sz="1800" dirty="0"/>
              <a:t>Except for very simple projects, AI cannot do all of its work in a single session; so, it is helpful to have AI </a:t>
            </a:r>
            <a:r>
              <a:rPr lang="en-US" sz="1800" b="1" u="sng" dirty="0"/>
              <a:t>organize its project work into multiple sessions</a:t>
            </a:r>
            <a:r>
              <a:rPr lang="en-US" sz="1800" dirty="0"/>
              <a:t>, where additional sessions can be added at any time for bug fixes or enhancements</a:t>
            </a:r>
          </a:p>
          <a:p>
            <a:pPr marL="1371600" lvl="2" indent="-457200">
              <a:buFont typeface="+mj-lt"/>
              <a:buAutoNum type="alphaLcPeriod"/>
            </a:pPr>
            <a:r>
              <a:rPr lang="en-US" sz="1800" dirty="0"/>
              <a:t>The same exact AI model will do things in very different ways on different occasions.  By forcing AI to follow a uniform session lifecycle, the result will be more consistent and predictable.</a:t>
            </a:r>
            <a:br>
              <a:rPr lang="en-US" sz="1800" dirty="0"/>
            </a:br>
            <a:endParaRPr lang="en-US" sz="1800" dirty="0"/>
          </a:p>
          <a:p>
            <a:pPr marL="914400" lvl="1" indent="-457200">
              <a:buFont typeface="+mj-lt"/>
              <a:buAutoNum type="arabicPeriod"/>
            </a:pPr>
            <a:r>
              <a:rPr lang="en-US" sz="1900" b="1" u="sng" dirty="0">
                <a:solidFill>
                  <a:srgbClr val="0070C0"/>
                </a:solidFill>
              </a:rPr>
              <a:t>Cost Savings</a:t>
            </a:r>
            <a:r>
              <a:rPr lang="en-US" sz="1900" dirty="0"/>
              <a:t> – </a:t>
            </a:r>
            <a:r>
              <a:rPr lang="en-US" sz="1900" i="1" dirty="0"/>
              <a:t>prevent AI from doing things that non-AI code can do at no cost and faster</a:t>
            </a:r>
            <a:r>
              <a:rPr lang="en-US" sz="1900" dirty="0"/>
              <a:t>.  Implementing #1 and #2 improves quality but also cost.  The extension helps offset this extra cost by handling things like project lifecycle governance and tracking, launching tests, remediation loops, disputes between AI engines, and git operations.</a:t>
            </a:r>
          </a:p>
        </p:txBody>
      </p:sp>
    </p:spTree>
    <p:extLst>
      <p:ext uri="{BB962C8B-B14F-4D97-AF65-F5344CB8AC3E}">
        <p14:creationId xmlns:p14="http://schemas.microsoft.com/office/powerpoint/2010/main" val="2680651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2FAA-D04A-0E08-2DA9-8BF801968A5F}"/>
              </a:ext>
            </a:extLst>
          </p:cNvPr>
          <p:cNvSpPr>
            <a:spLocks noGrp="1"/>
          </p:cNvSpPr>
          <p:nvPr>
            <p:ph type="title"/>
          </p:nvPr>
        </p:nvSpPr>
        <p:spPr>
          <a:xfrm>
            <a:off x="838200" y="365126"/>
            <a:ext cx="10515600" cy="937202"/>
          </a:xfrm>
        </p:spPr>
        <p:txBody>
          <a:bodyPr/>
          <a:lstStyle/>
          <a:p>
            <a:r>
              <a:rPr lang="en-US" i="1" dirty="0"/>
              <a:t>What if I don’t want to use it?</a:t>
            </a:r>
          </a:p>
        </p:txBody>
      </p:sp>
      <p:sp>
        <p:nvSpPr>
          <p:cNvPr id="3" name="Content Placeholder 2">
            <a:extLst>
              <a:ext uri="{FF2B5EF4-FFF2-40B4-BE49-F238E27FC236}">
                <a16:creationId xmlns:a16="http://schemas.microsoft.com/office/drawing/2014/main" id="{D28E9844-6B52-5A86-1679-6F9E04695A7F}"/>
              </a:ext>
            </a:extLst>
          </p:cNvPr>
          <p:cNvSpPr>
            <a:spLocks noGrp="1"/>
          </p:cNvSpPr>
          <p:nvPr>
            <p:ph idx="1"/>
          </p:nvPr>
        </p:nvSpPr>
        <p:spPr>
          <a:xfrm>
            <a:off x="838200" y="1616364"/>
            <a:ext cx="10515600" cy="4560599"/>
          </a:xfrm>
        </p:spPr>
        <p:txBody>
          <a:bodyPr>
            <a:normAutofit fontScale="92500"/>
          </a:bodyPr>
          <a:lstStyle/>
          <a:p>
            <a:r>
              <a:rPr lang="en-US" sz="2400" dirty="0"/>
              <a:t>At any time, you can stop using the extension and just use AI directly.  </a:t>
            </a:r>
          </a:p>
          <a:p>
            <a:pPr lvl="1">
              <a:buFont typeface="Courier New" panose="02070309020205020404" pitchFamily="49" charset="0"/>
              <a:buChar char="o"/>
            </a:pPr>
            <a:r>
              <a:rPr lang="en-US" sz="2000" dirty="0"/>
              <a:t>The extension just creates markdown (.md) and JSON files to organize and govern its work.</a:t>
            </a:r>
          </a:p>
          <a:p>
            <a:pPr lvl="1">
              <a:buFont typeface="Courier New" panose="02070309020205020404" pitchFamily="49" charset="0"/>
              <a:buChar char="o"/>
            </a:pPr>
            <a:r>
              <a:rPr lang="en-US" sz="2000" dirty="0"/>
              <a:t>If you ever want to stop using the extension permanently, you can keep or delete those files.</a:t>
            </a:r>
            <a:br>
              <a:rPr lang="en-US" sz="1900" dirty="0"/>
            </a:br>
            <a:endParaRPr lang="en-US" sz="1900" dirty="0"/>
          </a:p>
          <a:p>
            <a:r>
              <a:rPr lang="en-US" sz="2400" dirty="0"/>
              <a:t>But if you just want the benefit of </a:t>
            </a:r>
            <a:r>
              <a:rPr lang="en-US" sz="2400" i="1" dirty="0"/>
              <a:t>sometimes</a:t>
            </a:r>
            <a:r>
              <a:rPr lang="en-US" sz="2400" dirty="0"/>
              <a:t> using AI directly, do it this way: </a:t>
            </a:r>
          </a:p>
          <a:p>
            <a:pPr lvl="1">
              <a:buFont typeface="Courier New" panose="02070309020205020404" pitchFamily="49" charset="0"/>
              <a:buChar char="o"/>
            </a:pPr>
            <a:r>
              <a:rPr lang="en-US" sz="2000" dirty="0"/>
              <a:t>Fire up a separate (</a:t>
            </a:r>
            <a:r>
              <a:rPr lang="en-US" sz="2000" i="1" dirty="0"/>
              <a:t>ad-hoc</a:t>
            </a:r>
            <a:r>
              <a:rPr lang="en-US" sz="2000" dirty="0"/>
              <a:t>) chat window instance of Copilot or Claude</a:t>
            </a:r>
          </a:p>
          <a:p>
            <a:pPr lvl="1">
              <a:buFont typeface="Courier New" panose="02070309020205020404" pitchFamily="49" charset="0"/>
              <a:buChar char="o"/>
            </a:pPr>
            <a:r>
              <a:rPr lang="en-US" sz="2000" dirty="0"/>
              <a:t>If you have an in-flight session, make sure that you tell AI not to make any changes in the repo until the in-flight session lands (the session closes and all changes have been pushed to the remote)</a:t>
            </a:r>
          </a:p>
          <a:p>
            <a:pPr lvl="1">
              <a:buFont typeface="Courier New" panose="02070309020205020404" pitchFamily="49" charset="0"/>
              <a:buChar char="o"/>
            </a:pPr>
            <a:r>
              <a:rPr lang="en-US" sz="2000" dirty="0"/>
              <a:t>Have the independent AI read AGENTS.md so that it doesn’t mess up the extension’s markdown files and JSON documents.</a:t>
            </a:r>
          </a:p>
          <a:p>
            <a:pPr lvl="1">
              <a:buFont typeface="Courier New" panose="02070309020205020404" pitchFamily="49" charset="0"/>
              <a:buChar char="o"/>
            </a:pPr>
            <a:r>
              <a:rPr lang="en-US" sz="2000" dirty="0"/>
              <a:t>NOTE: An ad-hoc chat window is often a good approach for the following:</a:t>
            </a:r>
          </a:p>
          <a:p>
            <a:pPr marL="1371600" lvl="2" indent="-457200">
              <a:buFont typeface="+mj-lt"/>
              <a:buAutoNum type="arabicPeriod"/>
            </a:pPr>
            <a:r>
              <a:rPr lang="en-US" sz="1800" dirty="0"/>
              <a:t>Doing additional planning work while AI is busy implementing things</a:t>
            </a:r>
          </a:p>
          <a:p>
            <a:pPr marL="1371600" lvl="2" indent="-457200">
              <a:buFont typeface="+mj-lt"/>
              <a:buAutoNum type="arabicPeriod"/>
            </a:pPr>
            <a:r>
              <a:rPr lang="en-US" sz="1800" dirty="0"/>
              <a:t>Doing a real-time evaluation if you are concerned that AI is doing something wrong</a:t>
            </a:r>
          </a:p>
        </p:txBody>
      </p:sp>
    </p:spTree>
    <p:extLst>
      <p:ext uri="{BB962C8B-B14F-4D97-AF65-F5344CB8AC3E}">
        <p14:creationId xmlns:p14="http://schemas.microsoft.com/office/powerpoint/2010/main" val="3557061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755FB-9D1D-C088-1677-31721ED0737B}"/>
              </a:ext>
            </a:extLst>
          </p:cNvPr>
          <p:cNvSpPr>
            <a:spLocks noGrp="1"/>
          </p:cNvSpPr>
          <p:nvPr>
            <p:ph type="title"/>
          </p:nvPr>
        </p:nvSpPr>
        <p:spPr>
          <a:xfrm>
            <a:off x="838200" y="365126"/>
            <a:ext cx="10515600" cy="835602"/>
          </a:xfrm>
        </p:spPr>
        <p:txBody>
          <a:bodyPr/>
          <a:lstStyle/>
          <a:p>
            <a:r>
              <a:rPr lang="en-US" i="1" dirty="0"/>
              <a:t>Getting Started – Installation and Accounts</a:t>
            </a:r>
          </a:p>
        </p:txBody>
      </p:sp>
      <p:sp>
        <p:nvSpPr>
          <p:cNvPr id="3" name="Content Placeholder 2">
            <a:extLst>
              <a:ext uri="{FF2B5EF4-FFF2-40B4-BE49-F238E27FC236}">
                <a16:creationId xmlns:a16="http://schemas.microsoft.com/office/drawing/2014/main" id="{FB4B0194-10DA-CD5F-314B-66A25A6D0069}"/>
              </a:ext>
            </a:extLst>
          </p:cNvPr>
          <p:cNvSpPr>
            <a:spLocks noGrp="1"/>
          </p:cNvSpPr>
          <p:nvPr>
            <p:ph idx="1"/>
          </p:nvPr>
        </p:nvSpPr>
        <p:spPr>
          <a:xfrm>
            <a:off x="838200" y="1487055"/>
            <a:ext cx="10515600" cy="4689908"/>
          </a:xfrm>
        </p:spPr>
        <p:txBody>
          <a:bodyPr>
            <a:normAutofit fontScale="92500" lnSpcReduction="20000"/>
          </a:bodyPr>
          <a:lstStyle/>
          <a:p>
            <a:r>
              <a:rPr lang="en-US" sz="2400" dirty="0"/>
              <a:t>You need to have the following installed:</a:t>
            </a:r>
          </a:p>
          <a:p>
            <a:pPr lvl="1"/>
            <a:r>
              <a:rPr lang="en-US" sz="2100" b="1" u="sng" dirty="0"/>
              <a:t>Visual Studio Code</a:t>
            </a:r>
            <a:r>
              <a:rPr lang="en-US" sz="2100" dirty="0"/>
              <a:t>, including </a:t>
            </a:r>
          </a:p>
          <a:p>
            <a:pPr lvl="2"/>
            <a:r>
              <a:rPr lang="en-US" sz="1900" dirty="0"/>
              <a:t>Git client (often installed with VS Code)</a:t>
            </a:r>
          </a:p>
          <a:p>
            <a:pPr lvl="2"/>
            <a:r>
              <a:rPr lang="en-US" sz="1900" dirty="0"/>
              <a:t>Dabbler AI Orchestration Extension</a:t>
            </a:r>
          </a:p>
          <a:p>
            <a:pPr lvl="1"/>
            <a:r>
              <a:rPr lang="en-US" sz="2100" b="1" u="sng" dirty="0"/>
              <a:t>AI Command-Line AI Tool(s) </a:t>
            </a:r>
            <a:r>
              <a:rPr lang="en-US" sz="2100" dirty="0"/>
              <a:t>– at least one of the following:</a:t>
            </a:r>
          </a:p>
          <a:p>
            <a:pPr lvl="2"/>
            <a:r>
              <a:rPr lang="en-US" sz="1900" dirty="0"/>
              <a:t>Copilot CLI </a:t>
            </a:r>
          </a:p>
          <a:p>
            <a:pPr lvl="2"/>
            <a:r>
              <a:rPr lang="en-US" sz="1900" dirty="0"/>
              <a:t>Claude CLI</a:t>
            </a:r>
            <a:br>
              <a:rPr lang="en-US" dirty="0"/>
            </a:br>
            <a:endParaRPr lang="en-US" dirty="0"/>
          </a:p>
          <a:p>
            <a:r>
              <a:rPr lang="en-US" sz="2400" dirty="0"/>
              <a:t>You need AI Accounts</a:t>
            </a:r>
          </a:p>
          <a:p>
            <a:pPr lvl="1"/>
            <a:r>
              <a:rPr lang="en-US" sz="2100" dirty="0"/>
              <a:t>If using Copilot, you need a GitHub Copilot account</a:t>
            </a:r>
          </a:p>
          <a:p>
            <a:pPr lvl="1"/>
            <a:r>
              <a:rPr lang="en-US" sz="2100" dirty="0"/>
              <a:t>If using Claude CLI, you need both</a:t>
            </a:r>
          </a:p>
          <a:p>
            <a:pPr lvl="2"/>
            <a:r>
              <a:rPr lang="en-US" sz="1900" dirty="0"/>
              <a:t>An Anthropic AI account</a:t>
            </a:r>
          </a:p>
          <a:p>
            <a:pPr lvl="2"/>
            <a:r>
              <a:rPr lang="en-US" sz="1900" dirty="0"/>
              <a:t>At least one AI API account with either OpenAI or Google (Gemini)</a:t>
            </a:r>
            <a:br>
              <a:rPr lang="en-US" sz="1900" dirty="0"/>
            </a:br>
            <a:endParaRPr lang="en-US" sz="1900" dirty="0"/>
          </a:p>
          <a:p>
            <a:r>
              <a:rPr lang="en-US" sz="2400" dirty="0"/>
              <a:t>If using AI APIs, you need to set the Dabbler environment variables</a:t>
            </a:r>
          </a:p>
          <a:p>
            <a:pPr lvl="1"/>
            <a:r>
              <a:rPr lang="en-US" sz="1900" dirty="0"/>
              <a:t>DABBLER_OPENAI_ API_KEY and DABBLER_GEMINI_API_KEY</a:t>
            </a:r>
          </a:p>
          <a:p>
            <a:pPr lvl="1"/>
            <a:endParaRPr lang="en-US" dirty="0"/>
          </a:p>
        </p:txBody>
      </p:sp>
    </p:spTree>
    <p:extLst>
      <p:ext uri="{BB962C8B-B14F-4D97-AF65-F5344CB8AC3E}">
        <p14:creationId xmlns:p14="http://schemas.microsoft.com/office/powerpoint/2010/main" val="2257402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AE8BA-C691-2A4C-8626-67D6BD673083}"/>
              </a:ext>
            </a:extLst>
          </p:cNvPr>
          <p:cNvSpPr>
            <a:spLocks noGrp="1"/>
          </p:cNvSpPr>
          <p:nvPr>
            <p:ph type="title"/>
          </p:nvPr>
        </p:nvSpPr>
        <p:spPr>
          <a:xfrm>
            <a:off x="838200" y="365125"/>
            <a:ext cx="10515600" cy="798657"/>
          </a:xfrm>
        </p:spPr>
        <p:txBody>
          <a:bodyPr/>
          <a:lstStyle/>
          <a:p>
            <a:r>
              <a:rPr lang="en-US" i="1" dirty="0"/>
              <a:t>Getting Started – Project Set Up</a:t>
            </a:r>
          </a:p>
        </p:txBody>
      </p:sp>
      <p:sp>
        <p:nvSpPr>
          <p:cNvPr id="3" name="Content Placeholder 2">
            <a:extLst>
              <a:ext uri="{FF2B5EF4-FFF2-40B4-BE49-F238E27FC236}">
                <a16:creationId xmlns:a16="http://schemas.microsoft.com/office/drawing/2014/main" id="{8E2401FE-2066-F256-1FC5-26E8E4ABE46D}"/>
              </a:ext>
            </a:extLst>
          </p:cNvPr>
          <p:cNvSpPr>
            <a:spLocks noGrp="1"/>
          </p:cNvSpPr>
          <p:nvPr>
            <p:ph idx="1"/>
          </p:nvPr>
        </p:nvSpPr>
        <p:spPr>
          <a:xfrm>
            <a:off x="838200" y="1470990"/>
            <a:ext cx="5691909" cy="4876543"/>
          </a:xfrm>
        </p:spPr>
        <p:txBody>
          <a:bodyPr>
            <a:normAutofit lnSpcReduction="10000"/>
          </a:bodyPr>
          <a:lstStyle/>
          <a:p>
            <a:pPr marL="457200" indent="-457200">
              <a:buFont typeface="+mj-lt"/>
              <a:buAutoNum type="arabicPeriod"/>
            </a:pPr>
            <a:r>
              <a:rPr lang="en-US" sz="2200" dirty="0"/>
              <a:t>Create a remote repo in either GitHub or Azure DevOps.  Don’t add anything to the remote repo (not even the README file)</a:t>
            </a:r>
          </a:p>
          <a:p>
            <a:pPr marL="457200" indent="-457200">
              <a:buFont typeface="+mj-lt"/>
              <a:buAutoNum type="arabicPeriod"/>
            </a:pPr>
            <a:r>
              <a:rPr lang="en-US" sz="2200" dirty="0"/>
              <a:t>Fire up Visual Studio Code or open a new window (if VS Code is already open) – </a:t>
            </a:r>
            <a:r>
              <a:rPr lang="en-US" sz="2200" u="sng" dirty="0"/>
              <a:t>without selecting a folder</a:t>
            </a:r>
            <a:r>
              <a:rPr lang="en-US" sz="2200" dirty="0"/>
              <a:t>.</a:t>
            </a:r>
          </a:p>
          <a:p>
            <a:pPr marL="457200" indent="-457200">
              <a:buFont typeface="+mj-lt"/>
              <a:buAutoNum type="arabicPeriod"/>
            </a:pPr>
            <a:r>
              <a:rPr lang="en-US" sz="2200" dirty="0"/>
              <a:t>Click on the AI Orchestration’s </a:t>
            </a:r>
            <a:r>
              <a:rPr lang="en-US" sz="2200" u="sng" dirty="0"/>
              <a:t>Checkmark Icon</a:t>
            </a:r>
            <a:r>
              <a:rPr lang="en-US" sz="2200" dirty="0"/>
              <a:t>, </a:t>
            </a:r>
          </a:p>
          <a:p>
            <a:pPr marL="457200" indent="-457200">
              <a:buFont typeface="+mj-lt"/>
              <a:buAutoNum type="arabicPeriod"/>
            </a:pPr>
            <a:r>
              <a:rPr lang="en-US" sz="2200" dirty="0"/>
              <a:t>Click one of the blue “Set Up New Project” blue buttons (They both do the same thing)</a:t>
            </a:r>
          </a:p>
          <a:p>
            <a:pPr marL="457200" indent="-457200">
              <a:buFont typeface="+mj-lt"/>
              <a:buAutoNum type="arabicPeriod"/>
            </a:pPr>
            <a:r>
              <a:rPr lang="en-US" sz="2200" dirty="0"/>
              <a:t>You will be prompted for a folder location (it’s the </a:t>
            </a:r>
            <a:r>
              <a:rPr lang="en-US" sz="2200" u="sng" dirty="0"/>
              <a:t>parent</a:t>
            </a:r>
            <a:r>
              <a:rPr lang="en-US" sz="2200" dirty="0"/>
              <a:t> folder for the repo – so perhaps … source/repos), project name, and remote repo URL.</a:t>
            </a:r>
          </a:p>
        </p:txBody>
      </p:sp>
      <p:pic>
        <p:nvPicPr>
          <p:cNvPr id="5" name="Picture 4">
            <a:extLst>
              <a:ext uri="{FF2B5EF4-FFF2-40B4-BE49-F238E27FC236}">
                <a16:creationId xmlns:a16="http://schemas.microsoft.com/office/drawing/2014/main" id="{9F4C84F8-4CB1-87AA-ADDD-4798CBC3FBDE}"/>
              </a:ext>
            </a:extLst>
          </p:cNvPr>
          <p:cNvPicPr>
            <a:picLocks noChangeAspect="1"/>
          </p:cNvPicPr>
          <p:nvPr/>
        </p:nvPicPr>
        <p:blipFill>
          <a:blip r:embed="rId2"/>
          <a:stretch>
            <a:fillRect/>
          </a:stretch>
        </p:blipFill>
        <p:spPr>
          <a:xfrm>
            <a:off x="7156818" y="1208867"/>
            <a:ext cx="4196982" cy="5138666"/>
          </a:xfrm>
          <a:prstGeom prst="rect">
            <a:avLst/>
          </a:prstGeom>
        </p:spPr>
      </p:pic>
    </p:spTree>
    <p:extLst>
      <p:ext uri="{BB962C8B-B14F-4D97-AF65-F5344CB8AC3E}">
        <p14:creationId xmlns:p14="http://schemas.microsoft.com/office/powerpoint/2010/main" val="4059617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685</Words>
  <Application>Microsoft Office PowerPoint</Application>
  <PresentationFormat>Widescreen</PresentationFormat>
  <Paragraphs>42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Courier New</vt:lpstr>
      <vt:lpstr>Office Theme</vt:lpstr>
      <vt:lpstr>AI Orchestration</vt:lpstr>
      <vt:lpstr>What is this?</vt:lpstr>
      <vt:lpstr>What if I don’t want to use it?</vt:lpstr>
      <vt:lpstr>Getting Started – Installation and Accounts</vt:lpstr>
      <vt:lpstr>Getting Started – Project Set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Mitchell, Dennis C</dc:creator>
  <cp:lastModifiedBy>Mitchell, Dennis C</cp:lastModifiedBy>
  <cp:revision>1</cp:revision>
  <dcterms:created xsi:type="dcterms:W3CDTF">2026-09-16T05:54:25Z</dcterms:created>
  <dcterms:modified xsi:type="dcterms:W3CDTF">2026-09-16T07:46:10Z</dcterms:modified>
</cp:coreProperties>
</file>